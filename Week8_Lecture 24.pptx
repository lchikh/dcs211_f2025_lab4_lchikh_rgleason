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61" d="100"/>
          <a:sy n="61" d="100"/>
        </p:scale>
        <p:origin x="8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BDC89-EB80-41E0-B1DC-240389F00B11}"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5920A-B743-4888-9739-53EC55807E6C}" type="slidenum">
              <a:rPr lang="en-US" smtClean="0"/>
              <a:t>‹#›</a:t>
            </a:fld>
            <a:endParaRPr lang="en-US"/>
          </a:p>
        </p:txBody>
      </p:sp>
    </p:spTree>
    <p:extLst>
      <p:ext uri="{BB962C8B-B14F-4D97-AF65-F5344CB8AC3E}">
        <p14:creationId xmlns:p14="http://schemas.microsoft.com/office/powerpoint/2010/main" val="2950241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mechanism, briefly, on board</a:t>
            </a:r>
          </a:p>
        </p:txBody>
      </p:sp>
      <p:sp>
        <p:nvSpPr>
          <p:cNvPr id="4" name="Slide Number Placeholder 3"/>
          <p:cNvSpPr>
            <a:spLocks noGrp="1"/>
          </p:cNvSpPr>
          <p:nvPr>
            <p:ph type="sldNum" sz="quarter" idx="5"/>
          </p:nvPr>
        </p:nvSpPr>
        <p:spPr/>
        <p:txBody>
          <a:bodyPr/>
          <a:lstStyle/>
          <a:p>
            <a:fld id="{C685920A-B743-4888-9739-53EC55807E6C}" type="slidenum">
              <a:rPr lang="en-US" smtClean="0"/>
              <a:t>2</a:t>
            </a:fld>
            <a:endParaRPr lang="en-US"/>
          </a:p>
        </p:txBody>
      </p:sp>
    </p:spTree>
    <p:extLst>
      <p:ext uri="{BB962C8B-B14F-4D97-AF65-F5344CB8AC3E}">
        <p14:creationId xmlns:p14="http://schemas.microsoft.com/office/powerpoint/2010/main" val="655559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mechanism, briefly, on board</a:t>
            </a:r>
          </a:p>
        </p:txBody>
      </p:sp>
      <p:sp>
        <p:nvSpPr>
          <p:cNvPr id="4" name="Slide Number Placeholder 3"/>
          <p:cNvSpPr>
            <a:spLocks noGrp="1"/>
          </p:cNvSpPr>
          <p:nvPr>
            <p:ph type="sldNum" sz="quarter" idx="5"/>
          </p:nvPr>
        </p:nvSpPr>
        <p:spPr/>
        <p:txBody>
          <a:bodyPr/>
          <a:lstStyle/>
          <a:p>
            <a:fld id="{C685920A-B743-4888-9739-53EC55807E6C}" type="slidenum">
              <a:rPr lang="en-US" smtClean="0"/>
              <a:t>3</a:t>
            </a:fld>
            <a:endParaRPr lang="en-US"/>
          </a:p>
        </p:txBody>
      </p:sp>
    </p:spTree>
    <p:extLst>
      <p:ext uri="{BB962C8B-B14F-4D97-AF65-F5344CB8AC3E}">
        <p14:creationId xmlns:p14="http://schemas.microsoft.com/office/powerpoint/2010/main" val="1097381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nucleophiles</a:t>
            </a:r>
          </a:p>
        </p:txBody>
      </p:sp>
      <p:sp>
        <p:nvSpPr>
          <p:cNvPr id="4" name="Slide Number Placeholder 3"/>
          <p:cNvSpPr>
            <a:spLocks noGrp="1"/>
          </p:cNvSpPr>
          <p:nvPr>
            <p:ph type="sldNum" sz="quarter" idx="5"/>
          </p:nvPr>
        </p:nvSpPr>
        <p:spPr/>
        <p:txBody>
          <a:bodyPr/>
          <a:lstStyle/>
          <a:p>
            <a:fld id="{C685920A-B743-4888-9739-53EC55807E6C}" type="slidenum">
              <a:rPr lang="en-US" smtClean="0"/>
              <a:t>4</a:t>
            </a:fld>
            <a:endParaRPr lang="en-US"/>
          </a:p>
        </p:txBody>
      </p:sp>
    </p:spTree>
    <p:extLst>
      <p:ext uri="{BB962C8B-B14F-4D97-AF65-F5344CB8AC3E}">
        <p14:creationId xmlns:p14="http://schemas.microsoft.com/office/powerpoint/2010/main" val="4040467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85920A-B743-4888-9739-53EC55807E6C}" type="slidenum">
              <a:rPr lang="en-US" smtClean="0"/>
              <a:t>5</a:t>
            </a:fld>
            <a:endParaRPr lang="en-US"/>
          </a:p>
        </p:txBody>
      </p:sp>
    </p:spTree>
    <p:extLst>
      <p:ext uri="{BB962C8B-B14F-4D97-AF65-F5344CB8AC3E}">
        <p14:creationId xmlns:p14="http://schemas.microsoft.com/office/powerpoint/2010/main" val="778215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and </a:t>
            </a:r>
            <a:r>
              <a:rPr lang="en-US" dirty="0" err="1"/>
              <a:t>pKa</a:t>
            </a:r>
            <a:r>
              <a:rPr lang="en-US" dirty="0"/>
              <a:t> on board</a:t>
            </a:r>
          </a:p>
        </p:txBody>
      </p:sp>
      <p:sp>
        <p:nvSpPr>
          <p:cNvPr id="4" name="Slide Number Placeholder 3"/>
          <p:cNvSpPr>
            <a:spLocks noGrp="1"/>
          </p:cNvSpPr>
          <p:nvPr>
            <p:ph type="sldNum" sz="quarter" idx="5"/>
          </p:nvPr>
        </p:nvSpPr>
        <p:spPr/>
        <p:txBody>
          <a:bodyPr/>
          <a:lstStyle/>
          <a:p>
            <a:fld id="{C685920A-B743-4888-9739-53EC55807E6C}" type="slidenum">
              <a:rPr lang="en-US" smtClean="0"/>
              <a:t>7</a:t>
            </a:fld>
            <a:endParaRPr lang="en-US"/>
          </a:p>
        </p:txBody>
      </p:sp>
    </p:spTree>
    <p:extLst>
      <p:ext uri="{BB962C8B-B14F-4D97-AF65-F5344CB8AC3E}">
        <p14:creationId xmlns:p14="http://schemas.microsoft.com/office/powerpoint/2010/main" val="2324991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board</a:t>
            </a:r>
          </a:p>
        </p:txBody>
      </p:sp>
      <p:sp>
        <p:nvSpPr>
          <p:cNvPr id="4" name="Slide Number Placeholder 3"/>
          <p:cNvSpPr>
            <a:spLocks noGrp="1"/>
          </p:cNvSpPr>
          <p:nvPr>
            <p:ph type="sldNum" sz="quarter" idx="5"/>
          </p:nvPr>
        </p:nvSpPr>
        <p:spPr/>
        <p:txBody>
          <a:bodyPr/>
          <a:lstStyle/>
          <a:p>
            <a:fld id="{C685920A-B743-4888-9739-53EC55807E6C}" type="slidenum">
              <a:rPr lang="en-US" smtClean="0"/>
              <a:t>8</a:t>
            </a:fld>
            <a:endParaRPr lang="en-US"/>
          </a:p>
        </p:txBody>
      </p:sp>
    </p:spTree>
    <p:extLst>
      <p:ext uri="{BB962C8B-B14F-4D97-AF65-F5344CB8AC3E}">
        <p14:creationId xmlns:p14="http://schemas.microsoft.com/office/powerpoint/2010/main" val="2440904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85920A-B743-4888-9739-53EC55807E6C}" type="slidenum">
              <a:rPr lang="en-US" smtClean="0"/>
              <a:t>9</a:t>
            </a:fld>
            <a:endParaRPr lang="en-US"/>
          </a:p>
        </p:txBody>
      </p:sp>
    </p:spTree>
    <p:extLst>
      <p:ext uri="{BB962C8B-B14F-4D97-AF65-F5344CB8AC3E}">
        <p14:creationId xmlns:p14="http://schemas.microsoft.com/office/powerpoint/2010/main" val="3233025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A31A-2BA9-46F1-BB1D-6F6A9271B3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8A0662-0AEF-4530-AA62-8A67237FBA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AC6983-9B03-4C45-A292-6520A74CA857}"/>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5" name="Footer Placeholder 4">
            <a:extLst>
              <a:ext uri="{FF2B5EF4-FFF2-40B4-BE49-F238E27FC236}">
                <a16:creationId xmlns:a16="http://schemas.microsoft.com/office/drawing/2014/main" id="{9B3F7523-D3EE-49CC-866B-0F287155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EDF66B-C2D2-4EAE-BE65-F9EE286E541B}"/>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2469136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E9DD3-A10A-4B79-BE8A-5E35CB27AB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170BB0-2386-4F65-9A94-3B3526EDD3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0EF1FF-1EB5-46E0-95AC-F927CF64AA6E}"/>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5" name="Footer Placeholder 4">
            <a:extLst>
              <a:ext uri="{FF2B5EF4-FFF2-40B4-BE49-F238E27FC236}">
                <a16:creationId xmlns:a16="http://schemas.microsoft.com/office/drawing/2014/main" id="{FDD10467-B04B-49E6-BCF2-52945702B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A7FC3-9B95-436C-B773-DBEC347342C2}"/>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2201373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5DEA0-25E1-41F3-ACBC-BDD2D04A74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EEA84E-0F6F-4F24-9CB7-9397EC467A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66D93E-1409-48B8-9A13-7BF51AEC0237}"/>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5" name="Footer Placeholder 4">
            <a:extLst>
              <a:ext uri="{FF2B5EF4-FFF2-40B4-BE49-F238E27FC236}">
                <a16:creationId xmlns:a16="http://schemas.microsoft.com/office/drawing/2014/main" id="{02453E83-C250-4C78-A7C6-FD22843E5A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41C884-5399-42AD-A1F6-3379C7809639}"/>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625940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46283-4F9E-42EA-8690-8D5608078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424553-A09D-497A-97A4-4935CA328B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461AD1-83F3-4BB2-AF85-D3D8FF8FE2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818B36-3FBB-48CD-9037-8A2493105041}"/>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6" name="Footer Placeholder 5">
            <a:extLst>
              <a:ext uri="{FF2B5EF4-FFF2-40B4-BE49-F238E27FC236}">
                <a16:creationId xmlns:a16="http://schemas.microsoft.com/office/drawing/2014/main" id="{363CAE64-8232-4D7C-A1C5-6D4D853856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211CB-DF0E-4B40-AAD0-764D55630DEF}"/>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47720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51BF9-8ADC-48AF-BBC0-BEC595AE75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296FE5-E59B-47FD-9693-03DDA53C3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F61B67-6D42-467E-8230-7FFD5262F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E29E53-87A8-4BA0-A275-2B18BE2930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4E446-91DA-47AD-B7A0-ECB5A9CB23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C44358-4698-41EE-9CE0-D9BCE83A3878}"/>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8" name="Footer Placeholder 7">
            <a:extLst>
              <a:ext uri="{FF2B5EF4-FFF2-40B4-BE49-F238E27FC236}">
                <a16:creationId xmlns:a16="http://schemas.microsoft.com/office/drawing/2014/main" id="{5AE5B0F8-6646-42A4-9C74-EF283C7420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3DB88E-8436-4C3E-A88C-18B88C726284}"/>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10646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44EB7-AED2-4123-A24A-FECBF44CD0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8ACD50-8BE5-4281-A3F0-ED723A88997A}"/>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4" name="Footer Placeholder 3">
            <a:extLst>
              <a:ext uri="{FF2B5EF4-FFF2-40B4-BE49-F238E27FC236}">
                <a16:creationId xmlns:a16="http://schemas.microsoft.com/office/drawing/2014/main" id="{FB0BCCC4-A0CD-481A-AA0E-61B54D0AF4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BAF7DF-6CEB-4738-BA94-ABC88B21DE32}"/>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1881244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25112C-A3B5-40BF-8AAD-B4685E3BE15A}"/>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3" name="Footer Placeholder 2">
            <a:extLst>
              <a:ext uri="{FF2B5EF4-FFF2-40B4-BE49-F238E27FC236}">
                <a16:creationId xmlns:a16="http://schemas.microsoft.com/office/drawing/2014/main" id="{A1AD8700-DA36-4371-9C8E-B7EC0D1158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98145E-A352-4558-8389-71465B303FCD}"/>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1867459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7031-2919-441D-B37B-6580A038A3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40875C-6DEB-4385-AC59-FBA25A93D6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06AC1C-01B4-4139-AB3B-46C59E7A04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35EF56-2538-49CB-9505-F02CA653F096}"/>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6" name="Footer Placeholder 5">
            <a:extLst>
              <a:ext uri="{FF2B5EF4-FFF2-40B4-BE49-F238E27FC236}">
                <a16:creationId xmlns:a16="http://schemas.microsoft.com/office/drawing/2014/main" id="{52315304-AB6E-4B0A-8BA4-E433E4237F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1FE4C-DCBD-4F7A-BD22-72A2CE1068D9}"/>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718967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048C2-2EDC-4186-9D6C-A72D542840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DBF32B-8683-4CB8-8F83-2A29FF30C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1A872B-0AFD-40C5-A8CF-242D9CEE8F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E3E566-A369-46EA-AB50-2953568BA01B}"/>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6" name="Footer Placeholder 5">
            <a:extLst>
              <a:ext uri="{FF2B5EF4-FFF2-40B4-BE49-F238E27FC236}">
                <a16:creationId xmlns:a16="http://schemas.microsoft.com/office/drawing/2014/main" id="{5DE1F6F4-2BE7-4528-A9A1-11D5B46E9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710469-8C13-406F-B168-DEBC3E512B01}"/>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1885738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2A63-7B76-4806-A1E8-B3404457D7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E9388D-939B-4BB2-9F43-AC1C0EEE9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2DF22-5A03-480F-B4C7-BAD834B337C3}"/>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5" name="Footer Placeholder 4">
            <a:extLst>
              <a:ext uri="{FF2B5EF4-FFF2-40B4-BE49-F238E27FC236}">
                <a16:creationId xmlns:a16="http://schemas.microsoft.com/office/drawing/2014/main" id="{5A950245-004F-4A99-867C-6EEFC6678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EE86C-39CB-451D-B63C-9D31271C027C}"/>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343454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B1A57E-BA14-4E47-BE49-12D41F7130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8D7088-CB85-4B67-8AB9-F763C32B2C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96179-E2B7-4BB4-863F-6225EECC9727}"/>
              </a:ext>
            </a:extLst>
          </p:cNvPr>
          <p:cNvSpPr>
            <a:spLocks noGrp="1"/>
          </p:cNvSpPr>
          <p:nvPr>
            <p:ph type="dt" sz="half" idx="10"/>
          </p:nvPr>
        </p:nvSpPr>
        <p:spPr/>
        <p:txBody>
          <a:bodyPr/>
          <a:lstStyle/>
          <a:p>
            <a:fld id="{9EE8FD5C-5BD6-453D-8C62-166580724D19}" type="datetimeFigureOut">
              <a:rPr lang="en-US" smtClean="0"/>
              <a:t>10/23/2025</a:t>
            </a:fld>
            <a:endParaRPr lang="en-US"/>
          </a:p>
        </p:txBody>
      </p:sp>
      <p:sp>
        <p:nvSpPr>
          <p:cNvPr id="5" name="Footer Placeholder 4">
            <a:extLst>
              <a:ext uri="{FF2B5EF4-FFF2-40B4-BE49-F238E27FC236}">
                <a16:creationId xmlns:a16="http://schemas.microsoft.com/office/drawing/2014/main" id="{F6BC7BF9-EDDB-4D11-8F64-2C5DD87DB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BEEE8A-5F7A-40B4-9631-93651C6F2DF4}"/>
              </a:ext>
            </a:extLst>
          </p:cNvPr>
          <p:cNvSpPr>
            <a:spLocks noGrp="1"/>
          </p:cNvSpPr>
          <p:nvPr>
            <p:ph type="sldNum" sz="quarter" idx="12"/>
          </p:nvPr>
        </p:nvSpPr>
        <p:spPr/>
        <p:txBody>
          <a:bodyPr/>
          <a:lstStyle/>
          <a:p>
            <a:fld id="{18F34DD9-CD28-417C-8BE1-B03B04AF2DCC}" type="slidenum">
              <a:rPr lang="en-US" smtClean="0"/>
              <a:t>‹#›</a:t>
            </a:fld>
            <a:endParaRPr lang="en-US"/>
          </a:p>
        </p:txBody>
      </p:sp>
    </p:spTree>
    <p:extLst>
      <p:ext uri="{BB962C8B-B14F-4D97-AF65-F5344CB8AC3E}">
        <p14:creationId xmlns:p14="http://schemas.microsoft.com/office/powerpoint/2010/main" val="3382097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071F0-D7C4-479D-AA45-94788469B0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D319BF-7B84-4995-B80F-17720BC3A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8ED88B-4900-4E55-9DAA-706966AF4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E8FD5C-5BD6-453D-8C62-166580724D19}" type="datetimeFigureOut">
              <a:rPr lang="en-US" smtClean="0"/>
              <a:t>10/23/2025</a:t>
            </a:fld>
            <a:endParaRPr lang="en-US"/>
          </a:p>
        </p:txBody>
      </p:sp>
      <p:sp>
        <p:nvSpPr>
          <p:cNvPr id="5" name="Footer Placeholder 4">
            <a:extLst>
              <a:ext uri="{FF2B5EF4-FFF2-40B4-BE49-F238E27FC236}">
                <a16:creationId xmlns:a16="http://schemas.microsoft.com/office/drawing/2014/main" id="{C17C1F3C-5987-4818-8CCA-27E32390EF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89CB909-F5CD-4831-8A3E-E560EA6B1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F34DD9-CD28-417C-8BE1-B03B04AF2DCC}" type="slidenum">
              <a:rPr lang="en-US" smtClean="0"/>
              <a:t>‹#›</a:t>
            </a:fld>
            <a:endParaRPr lang="en-US"/>
          </a:p>
        </p:txBody>
      </p:sp>
    </p:spTree>
    <p:extLst>
      <p:ext uri="{BB962C8B-B14F-4D97-AF65-F5344CB8AC3E}">
        <p14:creationId xmlns:p14="http://schemas.microsoft.com/office/powerpoint/2010/main" val="1373023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3DA9C-F489-46D8-89EE-E9B3D03E1D81}"/>
              </a:ext>
            </a:extLst>
          </p:cNvPr>
          <p:cNvSpPr>
            <a:spLocks noGrp="1"/>
          </p:cNvSpPr>
          <p:nvPr>
            <p:ph type="ctrTitle"/>
          </p:nvPr>
        </p:nvSpPr>
        <p:spPr/>
        <p:txBody>
          <a:bodyPr/>
          <a:lstStyle/>
          <a:p>
            <a:r>
              <a:rPr lang="en-US" dirty="0">
                <a:latin typeface="Palatino Linotype" panose="02040502050505030304" pitchFamily="18" charset="0"/>
              </a:rPr>
              <a:t>Chem 321 – Lecture 24</a:t>
            </a:r>
          </a:p>
        </p:txBody>
      </p:sp>
      <p:sp>
        <p:nvSpPr>
          <p:cNvPr id="3" name="Subtitle 2">
            <a:extLst>
              <a:ext uri="{FF2B5EF4-FFF2-40B4-BE49-F238E27FC236}">
                <a16:creationId xmlns:a16="http://schemas.microsoft.com/office/drawing/2014/main" id="{D5377333-0504-48D0-ADFB-EFC90F8420DF}"/>
              </a:ext>
            </a:extLst>
          </p:cNvPr>
          <p:cNvSpPr>
            <a:spLocks noGrp="1"/>
          </p:cNvSpPr>
          <p:nvPr>
            <p:ph type="subTitle" idx="1"/>
          </p:nvPr>
        </p:nvSpPr>
        <p:spPr/>
        <p:txBody>
          <a:bodyPr/>
          <a:lstStyle/>
          <a:p>
            <a:r>
              <a:rPr lang="en-US">
                <a:latin typeface="Palatino Linotype" panose="02040502050505030304" pitchFamily="18" charset="0"/>
              </a:rPr>
              <a:t>10/23/25 </a:t>
            </a:r>
            <a:r>
              <a:rPr lang="en-US" dirty="0">
                <a:latin typeface="Palatino Linotype" panose="02040502050505030304" pitchFamily="18" charset="0"/>
              </a:rPr>
              <a:t>– Chymotrypsin</a:t>
            </a:r>
          </a:p>
          <a:p>
            <a:endParaRPr lang="en-US" dirty="0">
              <a:latin typeface="Palatino Linotype" panose="02040502050505030304" pitchFamily="18" charset="0"/>
            </a:endParaRPr>
          </a:p>
        </p:txBody>
      </p:sp>
    </p:spTree>
    <p:extLst>
      <p:ext uri="{BB962C8B-B14F-4D97-AF65-F5344CB8AC3E}">
        <p14:creationId xmlns:p14="http://schemas.microsoft.com/office/powerpoint/2010/main" val="1018888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E770-276E-49A9-9323-4526BD585476}"/>
              </a:ext>
            </a:extLst>
          </p:cNvPr>
          <p:cNvSpPr>
            <a:spLocks noGrp="1"/>
          </p:cNvSpPr>
          <p:nvPr>
            <p:ph type="title"/>
          </p:nvPr>
        </p:nvSpPr>
        <p:spPr/>
        <p:txBody>
          <a:bodyPr/>
          <a:lstStyle/>
          <a:p>
            <a:r>
              <a:rPr lang="en-US" dirty="0">
                <a:latin typeface="Palatino Linotype" panose="02040502050505030304" pitchFamily="18" charset="0"/>
              </a:rPr>
              <a:t>Proteases: hydrolysis of peptide bond</a:t>
            </a:r>
          </a:p>
        </p:txBody>
      </p:sp>
      <p:pic>
        <p:nvPicPr>
          <p:cNvPr id="4" name="Picture 3">
            <a:extLst>
              <a:ext uri="{FF2B5EF4-FFF2-40B4-BE49-F238E27FC236}">
                <a16:creationId xmlns:a16="http://schemas.microsoft.com/office/drawing/2014/main" id="{18876571-AFCD-40D5-9A74-263250F8F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0304" y="2120673"/>
            <a:ext cx="1795237" cy="1816866"/>
          </a:xfrm>
          <a:prstGeom prst="rect">
            <a:avLst/>
          </a:prstGeom>
        </p:spPr>
      </p:pic>
      <p:cxnSp>
        <p:nvCxnSpPr>
          <p:cNvPr id="5" name="Straight Arrow Connector 4">
            <a:extLst>
              <a:ext uri="{FF2B5EF4-FFF2-40B4-BE49-F238E27FC236}">
                <a16:creationId xmlns:a16="http://schemas.microsoft.com/office/drawing/2014/main" id="{92BE35A5-5DB9-4D7F-87B2-CF0297A4C721}"/>
              </a:ext>
            </a:extLst>
          </p:cNvPr>
          <p:cNvCxnSpPr/>
          <p:nvPr/>
        </p:nvCxnSpPr>
        <p:spPr>
          <a:xfrm>
            <a:off x="4236046" y="3029106"/>
            <a:ext cx="163629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DDB08BF-D504-42FE-B5A2-F4CF6B4D74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5418" y="2528759"/>
            <a:ext cx="932264" cy="1111978"/>
          </a:xfrm>
          <a:prstGeom prst="rect">
            <a:avLst/>
          </a:prstGeom>
        </p:spPr>
      </p:pic>
      <p:pic>
        <p:nvPicPr>
          <p:cNvPr id="7" name="Picture 6">
            <a:extLst>
              <a:ext uri="{FF2B5EF4-FFF2-40B4-BE49-F238E27FC236}">
                <a16:creationId xmlns:a16="http://schemas.microsoft.com/office/drawing/2014/main" id="{3D0EEC06-F973-4D93-A643-D26CC3C756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9573" y="2332259"/>
            <a:ext cx="1534077" cy="1308478"/>
          </a:xfrm>
          <a:prstGeom prst="rect">
            <a:avLst/>
          </a:prstGeom>
        </p:spPr>
      </p:pic>
      <p:sp>
        <p:nvSpPr>
          <p:cNvPr id="8" name="TextBox 7">
            <a:extLst>
              <a:ext uri="{FF2B5EF4-FFF2-40B4-BE49-F238E27FC236}">
                <a16:creationId xmlns:a16="http://schemas.microsoft.com/office/drawing/2014/main" id="{2CE8825C-A08D-4245-BEA4-D1ABAB99D267}"/>
              </a:ext>
            </a:extLst>
          </p:cNvPr>
          <p:cNvSpPr txBox="1"/>
          <p:nvPr/>
        </p:nvSpPr>
        <p:spPr>
          <a:xfrm>
            <a:off x="7976373" y="2761582"/>
            <a:ext cx="413896" cy="646331"/>
          </a:xfrm>
          <a:prstGeom prst="rect">
            <a:avLst/>
          </a:prstGeom>
          <a:noFill/>
        </p:spPr>
        <p:txBody>
          <a:bodyPr wrap="none" rtlCol="0">
            <a:spAutoFit/>
          </a:bodyPr>
          <a:lstStyle/>
          <a:p>
            <a:r>
              <a:rPr lang="en-US" sz="3600" dirty="0"/>
              <a:t>+</a:t>
            </a:r>
          </a:p>
        </p:txBody>
      </p:sp>
      <p:sp>
        <p:nvSpPr>
          <p:cNvPr id="9" name="TextBox 8">
            <a:extLst>
              <a:ext uri="{FF2B5EF4-FFF2-40B4-BE49-F238E27FC236}">
                <a16:creationId xmlns:a16="http://schemas.microsoft.com/office/drawing/2014/main" id="{9B9CE3AD-603F-4BA4-946D-2924FADA670E}"/>
              </a:ext>
            </a:extLst>
          </p:cNvPr>
          <p:cNvSpPr txBox="1"/>
          <p:nvPr/>
        </p:nvSpPr>
        <p:spPr>
          <a:xfrm>
            <a:off x="4416128" y="2587228"/>
            <a:ext cx="1268296" cy="369332"/>
          </a:xfrm>
          <a:prstGeom prst="rect">
            <a:avLst/>
          </a:prstGeom>
          <a:noFill/>
        </p:spPr>
        <p:txBody>
          <a:bodyPr wrap="none" rtlCol="0">
            <a:spAutoFit/>
          </a:bodyPr>
          <a:lstStyle/>
          <a:p>
            <a:r>
              <a:rPr lang="en-US" dirty="0"/>
              <a:t>H</a:t>
            </a:r>
            <a:r>
              <a:rPr lang="en-US" baseline="-25000" dirty="0"/>
              <a:t>2</a:t>
            </a:r>
            <a:r>
              <a:rPr lang="en-US" dirty="0"/>
              <a:t>SO</a:t>
            </a:r>
            <a:r>
              <a:rPr lang="en-US" baseline="-25000" dirty="0"/>
              <a:t>4</a:t>
            </a:r>
            <a:r>
              <a:rPr lang="en-US" dirty="0"/>
              <a:t>, H</a:t>
            </a:r>
            <a:r>
              <a:rPr lang="en-US" baseline="-25000" dirty="0"/>
              <a:t>2</a:t>
            </a:r>
            <a:r>
              <a:rPr lang="en-US" dirty="0"/>
              <a:t>O</a:t>
            </a:r>
            <a:endParaRPr lang="en-US" baseline="-25000" dirty="0"/>
          </a:p>
        </p:txBody>
      </p:sp>
      <p:sp>
        <p:nvSpPr>
          <p:cNvPr id="10" name="TextBox 9">
            <a:extLst>
              <a:ext uri="{FF2B5EF4-FFF2-40B4-BE49-F238E27FC236}">
                <a16:creationId xmlns:a16="http://schemas.microsoft.com/office/drawing/2014/main" id="{1F5AAE59-02E6-4471-A235-C710C2C271F5}"/>
              </a:ext>
            </a:extLst>
          </p:cNvPr>
          <p:cNvSpPr txBox="1"/>
          <p:nvPr/>
        </p:nvSpPr>
        <p:spPr>
          <a:xfrm>
            <a:off x="4735721" y="3084747"/>
            <a:ext cx="763671" cy="369332"/>
          </a:xfrm>
          <a:prstGeom prst="rect">
            <a:avLst/>
          </a:prstGeom>
          <a:noFill/>
        </p:spPr>
        <p:txBody>
          <a:bodyPr wrap="none" rtlCol="0">
            <a:spAutoFit/>
          </a:bodyPr>
          <a:lstStyle/>
          <a:p>
            <a:r>
              <a:rPr lang="en-US" dirty="0"/>
              <a:t>Reflux</a:t>
            </a:r>
          </a:p>
        </p:txBody>
      </p:sp>
    </p:spTree>
    <p:extLst>
      <p:ext uri="{BB962C8B-B14F-4D97-AF65-F5344CB8AC3E}">
        <p14:creationId xmlns:p14="http://schemas.microsoft.com/office/powerpoint/2010/main" val="1650748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E770-276E-49A9-9323-4526BD585476}"/>
              </a:ext>
            </a:extLst>
          </p:cNvPr>
          <p:cNvSpPr>
            <a:spLocks noGrp="1"/>
          </p:cNvSpPr>
          <p:nvPr>
            <p:ph type="title"/>
          </p:nvPr>
        </p:nvSpPr>
        <p:spPr/>
        <p:txBody>
          <a:bodyPr/>
          <a:lstStyle/>
          <a:p>
            <a:r>
              <a:rPr lang="en-US" dirty="0">
                <a:latin typeface="Palatino Linotype" panose="02040502050505030304" pitchFamily="18" charset="0"/>
              </a:rPr>
              <a:t>Proteases: hydrolysis of peptide bond</a:t>
            </a:r>
          </a:p>
        </p:txBody>
      </p:sp>
      <p:pic>
        <p:nvPicPr>
          <p:cNvPr id="4" name="Picture 3">
            <a:extLst>
              <a:ext uri="{FF2B5EF4-FFF2-40B4-BE49-F238E27FC236}">
                <a16:creationId xmlns:a16="http://schemas.microsoft.com/office/drawing/2014/main" id="{18876571-AFCD-40D5-9A74-263250F8F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6731" y="1857902"/>
            <a:ext cx="1795237" cy="1816866"/>
          </a:xfrm>
          <a:prstGeom prst="rect">
            <a:avLst/>
          </a:prstGeom>
        </p:spPr>
      </p:pic>
      <p:cxnSp>
        <p:nvCxnSpPr>
          <p:cNvPr id="5" name="Straight Arrow Connector 4">
            <a:extLst>
              <a:ext uri="{FF2B5EF4-FFF2-40B4-BE49-F238E27FC236}">
                <a16:creationId xmlns:a16="http://schemas.microsoft.com/office/drawing/2014/main" id="{92BE35A5-5DB9-4D7F-87B2-CF0297A4C721}"/>
              </a:ext>
            </a:extLst>
          </p:cNvPr>
          <p:cNvCxnSpPr/>
          <p:nvPr/>
        </p:nvCxnSpPr>
        <p:spPr>
          <a:xfrm>
            <a:off x="4162473" y="2766335"/>
            <a:ext cx="163629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DDB08BF-D504-42FE-B5A2-F4CF6B4D74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1845" y="2265988"/>
            <a:ext cx="932264" cy="1111978"/>
          </a:xfrm>
          <a:prstGeom prst="rect">
            <a:avLst/>
          </a:prstGeom>
        </p:spPr>
      </p:pic>
      <p:pic>
        <p:nvPicPr>
          <p:cNvPr id="7" name="Picture 6">
            <a:extLst>
              <a:ext uri="{FF2B5EF4-FFF2-40B4-BE49-F238E27FC236}">
                <a16:creationId xmlns:a16="http://schemas.microsoft.com/office/drawing/2014/main" id="{3D0EEC06-F973-4D93-A643-D26CC3C756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2069488"/>
            <a:ext cx="1534077" cy="1308478"/>
          </a:xfrm>
          <a:prstGeom prst="rect">
            <a:avLst/>
          </a:prstGeom>
        </p:spPr>
      </p:pic>
      <p:sp>
        <p:nvSpPr>
          <p:cNvPr id="8" name="TextBox 7">
            <a:extLst>
              <a:ext uri="{FF2B5EF4-FFF2-40B4-BE49-F238E27FC236}">
                <a16:creationId xmlns:a16="http://schemas.microsoft.com/office/drawing/2014/main" id="{2CE8825C-A08D-4245-BEA4-D1ABAB99D267}"/>
              </a:ext>
            </a:extLst>
          </p:cNvPr>
          <p:cNvSpPr txBox="1"/>
          <p:nvPr/>
        </p:nvSpPr>
        <p:spPr>
          <a:xfrm>
            <a:off x="7902800" y="2498811"/>
            <a:ext cx="413896" cy="646331"/>
          </a:xfrm>
          <a:prstGeom prst="rect">
            <a:avLst/>
          </a:prstGeom>
          <a:noFill/>
        </p:spPr>
        <p:txBody>
          <a:bodyPr wrap="none" rtlCol="0">
            <a:spAutoFit/>
          </a:bodyPr>
          <a:lstStyle/>
          <a:p>
            <a:r>
              <a:rPr lang="en-US" sz="3600" dirty="0"/>
              <a:t>+</a:t>
            </a:r>
          </a:p>
        </p:txBody>
      </p:sp>
      <p:sp>
        <p:nvSpPr>
          <p:cNvPr id="9" name="TextBox 8">
            <a:extLst>
              <a:ext uri="{FF2B5EF4-FFF2-40B4-BE49-F238E27FC236}">
                <a16:creationId xmlns:a16="http://schemas.microsoft.com/office/drawing/2014/main" id="{9B9CE3AD-603F-4BA4-946D-2924FADA670E}"/>
              </a:ext>
            </a:extLst>
          </p:cNvPr>
          <p:cNvSpPr txBox="1"/>
          <p:nvPr/>
        </p:nvSpPr>
        <p:spPr>
          <a:xfrm>
            <a:off x="4342555" y="2324457"/>
            <a:ext cx="1268296" cy="369332"/>
          </a:xfrm>
          <a:prstGeom prst="rect">
            <a:avLst/>
          </a:prstGeom>
          <a:noFill/>
        </p:spPr>
        <p:txBody>
          <a:bodyPr wrap="none" rtlCol="0">
            <a:spAutoFit/>
          </a:bodyPr>
          <a:lstStyle/>
          <a:p>
            <a:r>
              <a:rPr lang="en-US" dirty="0"/>
              <a:t>H</a:t>
            </a:r>
            <a:r>
              <a:rPr lang="en-US" baseline="-25000" dirty="0"/>
              <a:t>2</a:t>
            </a:r>
            <a:r>
              <a:rPr lang="en-US" dirty="0"/>
              <a:t>SO</a:t>
            </a:r>
            <a:r>
              <a:rPr lang="en-US" baseline="-25000" dirty="0"/>
              <a:t>4</a:t>
            </a:r>
            <a:r>
              <a:rPr lang="en-US" dirty="0"/>
              <a:t>, H</a:t>
            </a:r>
            <a:r>
              <a:rPr lang="en-US" baseline="-25000" dirty="0"/>
              <a:t>2</a:t>
            </a:r>
            <a:r>
              <a:rPr lang="en-US" dirty="0"/>
              <a:t>O</a:t>
            </a:r>
            <a:endParaRPr lang="en-US" baseline="-25000" dirty="0"/>
          </a:p>
        </p:txBody>
      </p:sp>
      <p:sp>
        <p:nvSpPr>
          <p:cNvPr id="10" name="TextBox 9">
            <a:extLst>
              <a:ext uri="{FF2B5EF4-FFF2-40B4-BE49-F238E27FC236}">
                <a16:creationId xmlns:a16="http://schemas.microsoft.com/office/drawing/2014/main" id="{1F5AAE59-02E6-4471-A235-C710C2C271F5}"/>
              </a:ext>
            </a:extLst>
          </p:cNvPr>
          <p:cNvSpPr txBox="1"/>
          <p:nvPr/>
        </p:nvSpPr>
        <p:spPr>
          <a:xfrm>
            <a:off x="4662148" y="2821976"/>
            <a:ext cx="763671" cy="369332"/>
          </a:xfrm>
          <a:prstGeom prst="rect">
            <a:avLst/>
          </a:prstGeom>
          <a:noFill/>
        </p:spPr>
        <p:txBody>
          <a:bodyPr wrap="none" rtlCol="0">
            <a:spAutoFit/>
          </a:bodyPr>
          <a:lstStyle/>
          <a:p>
            <a:r>
              <a:rPr lang="en-US" dirty="0"/>
              <a:t>Reflux</a:t>
            </a:r>
          </a:p>
        </p:txBody>
      </p:sp>
      <p:pic>
        <p:nvPicPr>
          <p:cNvPr id="11" name="Picture 10">
            <a:extLst>
              <a:ext uri="{FF2B5EF4-FFF2-40B4-BE49-F238E27FC236}">
                <a16:creationId xmlns:a16="http://schemas.microsoft.com/office/drawing/2014/main" id="{43731DDF-B18C-4787-A6A1-305B2C3BB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2356" y="4382379"/>
            <a:ext cx="1795237" cy="1816866"/>
          </a:xfrm>
          <a:prstGeom prst="rect">
            <a:avLst/>
          </a:prstGeom>
        </p:spPr>
      </p:pic>
      <p:cxnSp>
        <p:nvCxnSpPr>
          <p:cNvPr id="12" name="Straight Arrow Connector 11">
            <a:extLst>
              <a:ext uri="{FF2B5EF4-FFF2-40B4-BE49-F238E27FC236}">
                <a16:creationId xmlns:a16="http://schemas.microsoft.com/office/drawing/2014/main" id="{5BD6E622-5982-4C84-BE07-F3BF5561A1EA}"/>
              </a:ext>
            </a:extLst>
          </p:cNvPr>
          <p:cNvCxnSpPr>
            <a:cxnSpLocks/>
          </p:cNvCxnSpPr>
          <p:nvPr/>
        </p:nvCxnSpPr>
        <p:spPr>
          <a:xfrm>
            <a:off x="3944825" y="5333420"/>
            <a:ext cx="254056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F8E3E0F-EE9C-4601-A0FD-BA09F8A2C3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8464" y="4833073"/>
            <a:ext cx="932264" cy="1111978"/>
          </a:xfrm>
          <a:prstGeom prst="rect">
            <a:avLst/>
          </a:prstGeom>
        </p:spPr>
      </p:pic>
      <p:pic>
        <p:nvPicPr>
          <p:cNvPr id="14" name="Picture 13">
            <a:extLst>
              <a:ext uri="{FF2B5EF4-FFF2-40B4-BE49-F238E27FC236}">
                <a16:creationId xmlns:a16="http://schemas.microsoft.com/office/drawing/2014/main" id="{2F7F7850-EA57-4819-A1F8-8D80E478B3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2619" y="4636573"/>
            <a:ext cx="1534077" cy="1308478"/>
          </a:xfrm>
          <a:prstGeom prst="rect">
            <a:avLst/>
          </a:prstGeom>
        </p:spPr>
      </p:pic>
      <p:sp>
        <p:nvSpPr>
          <p:cNvPr id="15" name="TextBox 14">
            <a:extLst>
              <a:ext uri="{FF2B5EF4-FFF2-40B4-BE49-F238E27FC236}">
                <a16:creationId xmlns:a16="http://schemas.microsoft.com/office/drawing/2014/main" id="{309986B4-5F62-4314-8285-237B9AE9151D}"/>
              </a:ext>
            </a:extLst>
          </p:cNvPr>
          <p:cNvSpPr txBox="1"/>
          <p:nvPr/>
        </p:nvSpPr>
        <p:spPr>
          <a:xfrm>
            <a:off x="8589419" y="5065896"/>
            <a:ext cx="413896" cy="646331"/>
          </a:xfrm>
          <a:prstGeom prst="rect">
            <a:avLst/>
          </a:prstGeom>
          <a:noFill/>
        </p:spPr>
        <p:txBody>
          <a:bodyPr wrap="none" rtlCol="0">
            <a:spAutoFit/>
          </a:bodyPr>
          <a:lstStyle/>
          <a:p>
            <a:r>
              <a:rPr lang="en-US" sz="3600" dirty="0"/>
              <a:t>+</a:t>
            </a:r>
          </a:p>
        </p:txBody>
      </p:sp>
      <p:sp>
        <p:nvSpPr>
          <p:cNvPr id="3" name="Oval 2">
            <a:extLst>
              <a:ext uri="{FF2B5EF4-FFF2-40B4-BE49-F238E27FC236}">
                <a16:creationId xmlns:a16="http://schemas.microsoft.com/office/drawing/2014/main" id="{DEA787B2-9B5C-4F15-9452-248716AB0E42}"/>
              </a:ext>
            </a:extLst>
          </p:cNvPr>
          <p:cNvSpPr/>
          <p:nvPr/>
        </p:nvSpPr>
        <p:spPr>
          <a:xfrm>
            <a:off x="5029319" y="2324457"/>
            <a:ext cx="470073" cy="386238"/>
          </a:xfrm>
          <a:prstGeom prst="ellipse">
            <a:avLst/>
          </a:prstGeom>
          <a:solidFill>
            <a:srgbClr val="D60093">
              <a:alpha val="25000"/>
            </a:srgbClr>
          </a:solidFill>
          <a:ln>
            <a:solidFill>
              <a:srgbClr val="D600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45A7924-DF3D-4D0A-B83E-10383F844E52}"/>
              </a:ext>
            </a:extLst>
          </p:cNvPr>
          <p:cNvSpPr txBox="1"/>
          <p:nvPr/>
        </p:nvSpPr>
        <p:spPr>
          <a:xfrm>
            <a:off x="5009692" y="1961941"/>
            <a:ext cx="1326004" cy="369332"/>
          </a:xfrm>
          <a:prstGeom prst="rect">
            <a:avLst/>
          </a:prstGeom>
          <a:noFill/>
        </p:spPr>
        <p:txBody>
          <a:bodyPr wrap="none" rtlCol="0">
            <a:spAutoFit/>
          </a:bodyPr>
          <a:lstStyle/>
          <a:p>
            <a:r>
              <a:rPr lang="en-US" b="1" dirty="0">
                <a:solidFill>
                  <a:srgbClr val="D60093"/>
                </a:solidFill>
              </a:rPr>
              <a:t>Nucleophile</a:t>
            </a:r>
          </a:p>
        </p:txBody>
      </p:sp>
      <p:sp>
        <p:nvSpPr>
          <p:cNvPr id="20" name="Oval 19">
            <a:extLst>
              <a:ext uri="{FF2B5EF4-FFF2-40B4-BE49-F238E27FC236}">
                <a16:creationId xmlns:a16="http://schemas.microsoft.com/office/drawing/2014/main" id="{1773E596-9AEA-4D74-AEF7-EA40884AD040}"/>
              </a:ext>
            </a:extLst>
          </p:cNvPr>
          <p:cNvSpPr/>
          <p:nvPr/>
        </p:nvSpPr>
        <p:spPr>
          <a:xfrm>
            <a:off x="4662148" y="2821976"/>
            <a:ext cx="837244" cy="369332"/>
          </a:xfrm>
          <a:prstGeom prst="ellipse">
            <a:avLst/>
          </a:prstGeom>
          <a:solidFill>
            <a:schemeClr val="accent1">
              <a:alpha val="2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BAA72E2-C070-4FF4-9D04-0CA177B55440}"/>
              </a:ext>
            </a:extLst>
          </p:cNvPr>
          <p:cNvSpPr/>
          <p:nvPr/>
        </p:nvSpPr>
        <p:spPr>
          <a:xfrm>
            <a:off x="4192075" y="2324457"/>
            <a:ext cx="837244" cy="369332"/>
          </a:xfrm>
          <a:prstGeom prst="ellipse">
            <a:avLst/>
          </a:prstGeom>
          <a:solidFill>
            <a:schemeClr val="accent1">
              <a:alpha val="2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113A00C-BF58-495D-A43E-9B33D35E0A9E}"/>
              </a:ext>
            </a:extLst>
          </p:cNvPr>
          <p:cNvSpPr txBox="1"/>
          <p:nvPr/>
        </p:nvSpPr>
        <p:spPr>
          <a:xfrm>
            <a:off x="3820067" y="3260559"/>
            <a:ext cx="2516417" cy="646331"/>
          </a:xfrm>
          <a:prstGeom prst="rect">
            <a:avLst/>
          </a:prstGeom>
          <a:noFill/>
        </p:spPr>
        <p:txBody>
          <a:bodyPr wrap="square" rtlCol="0">
            <a:spAutoFit/>
          </a:bodyPr>
          <a:lstStyle/>
          <a:p>
            <a:r>
              <a:rPr lang="en-US" b="1" dirty="0">
                <a:solidFill>
                  <a:schemeClr val="accent1"/>
                </a:solidFill>
              </a:rPr>
              <a:t>Activate amide, stabilize transition state</a:t>
            </a:r>
          </a:p>
        </p:txBody>
      </p:sp>
      <p:sp>
        <p:nvSpPr>
          <p:cNvPr id="24" name="TextBox 23">
            <a:extLst>
              <a:ext uri="{FF2B5EF4-FFF2-40B4-BE49-F238E27FC236}">
                <a16:creationId xmlns:a16="http://schemas.microsoft.com/office/drawing/2014/main" id="{A877BB87-0A30-4616-BA88-66B1E57DB3DB}"/>
              </a:ext>
            </a:extLst>
          </p:cNvPr>
          <p:cNvSpPr txBox="1"/>
          <p:nvPr/>
        </p:nvSpPr>
        <p:spPr>
          <a:xfrm>
            <a:off x="4382444" y="4921480"/>
            <a:ext cx="1510863" cy="369332"/>
          </a:xfrm>
          <a:prstGeom prst="rect">
            <a:avLst/>
          </a:prstGeom>
          <a:noFill/>
        </p:spPr>
        <p:txBody>
          <a:bodyPr wrap="none" rtlCol="0">
            <a:spAutoFit/>
          </a:bodyPr>
          <a:lstStyle/>
          <a:p>
            <a:r>
              <a:rPr lang="en-US" b="1" dirty="0">
                <a:solidFill>
                  <a:srgbClr val="D60093"/>
                </a:solidFill>
              </a:rPr>
              <a:t>Chymo</a:t>
            </a:r>
            <a:r>
              <a:rPr lang="en-US" b="1" dirty="0">
                <a:solidFill>
                  <a:schemeClr val="accent1"/>
                </a:solidFill>
              </a:rPr>
              <a:t>trypsin</a:t>
            </a:r>
          </a:p>
        </p:txBody>
      </p:sp>
      <p:sp>
        <p:nvSpPr>
          <p:cNvPr id="25" name="TextBox 24">
            <a:extLst>
              <a:ext uri="{FF2B5EF4-FFF2-40B4-BE49-F238E27FC236}">
                <a16:creationId xmlns:a16="http://schemas.microsoft.com/office/drawing/2014/main" id="{1EA81F85-24A2-4085-AFEE-428226B81DE4}"/>
              </a:ext>
            </a:extLst>
          </p:cNvPr>
          <p:cNvSpPr txBox="1"/>
          <p:nvPr/>
        </p:nvSpPr>
        <p:spPr>
          <a:xfrm>
            <a:off x="3944825" y="5344501"/>
            <a:ext cx="2245768" cy="646331"/>
          </a:xfrm>
          <a:prstGeom prst="rect">
            <a:avLst/>
          </a:prstGeom>
          <a:noFill/>
        </p:spPr>
        <p:txBody>
          <a:bodyPr wrap="square" rtlCol="0">
            <a:spAutoFit/>
          </a:bodyPr>
          <a:lstStyle/>
          <a:p>
            <a:r>
              <a:rPr lang="en-US" dirty="0"/>
              <a:t>(Next to a large aromatic amino acid)</a:t>
            </a:r>
          </a:p>
        </p:txBody>
      </p:sp>
    </p:spTree>
    <p:extLst>
      <p:ext uri="{BB962C8B-B14F-4D97-AF65-F5344CB8AC3E}">
        <p14:creationId xmlns:p14="http://schemas.microsoft.com/office/powerpoint/2010/main" val="3099735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E770-276E-49A9-9323-4526BD585476}"/>
              </a:ext>
            </a:extLst>
          </p:cNvPr>
          <p:cNvSpPr>
            <a:spLocks noGrp="1"/>
          </p:cNvSpPr>
          <p:nvPr>
            <p:ph type="title"/>
          </p:nvPr>
        </p:nvSpPr>
        <p:spPr/>
        <p:txBody>
          <a:bodyPr/>
          <a:lstStyle/>
          <a:p>
            <a:r>
              <a:rPr lang="en-US" dirty="0">
                <a:latin typeface="Palatino Linotype" panose="02040502050505030304" pitchFamily="18" charset="0"/>
              </a:rPr>
              <a:t>Proteases: hydrolysis of peptide bond</a:t>
            </a:r>
          </a:p>
        </p:txBody>
      </p:sp>
      <p:pic>
        <p:nvPicPr>
          <p:cNvPr id="11" name="Picture 10">
            <a:extLst>
              <a:ext uri="{FF2B5EF4-FFF2-40B4-BE49-F238E27FC236}">
                <a16:creationId xmlns:a16="http://schemas.microsoft.com/office/drawing/2014/main" id="{43731DDF-B18C-4787-A6A1-305B2C3BB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1846" y="1690688"/>
            <a:ext cx="1795237" cy="1816866"/>
          </a:xfrm>
          <a:prstGeom prst="rect">
            <a:avLst/>
          </a:prstGeom>
        </p:spPr>
      </p:pic>
      <p:cxnSp>
        <p:nvCxnSpPr>
          <p:cNvPr id="12" name="Straight Arrow Connector 11">
            <a:extLst>
              <a:ext uri="{FF2B5EF4-FFF2-40B4-BE49-F238E27FC236}">
                <a16:creationId xmlns:a16="http://schemas.microsoft.com/office/drawing/2014/main" id="{5BD6E622-5982-4C84-BE07-F3BF5561A1EA}"/>
              </a:ext>
            </a:extLst>
          </p:cNvPr>
          <p:cNvCxnSpPr>
            <a:cxnSpLocks/>
          </p:cNvCxnSpPr>
          <p:nvPr/>
        </p:nvCxnSpPr>
        <p:spPr>
          <a:xfrm>
            <a:off x="3934315" y="2641729"/>
            <a:ext cx="254056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F8E3E0F-EE9C-4601-A0FD-BA09F8A2C3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7954" y="2141382"/>
            <a:ext cx="932264" cy="1111978"/>
          </a:xfrm>
          <a:prstGeom prst="rect">
            <a:avLst/>
          </a:prstGeom>
        </p:spPr>
      </p:pic>
      <p:pic>
        <p:nvPicPr>
          <p:cNvPr id="14" name="Picture 13">
            <a:extLst>
              <a:ext uri="{FF2B5EF4-FFF2-40B4-BE49-F238E27FC236}">
                <a16:creationId xmlns:a16="http://schemas.microsoft.com/office/drawing/2014/main" id="{2F7F7850-EA57-4819-A1F8-8D80E478B3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72109" y="1944882"/>
            <a:ext cx="1534077" cy="1308478"/>
          </a:xfrm>
          <a:prstGeom prst="rect">
            <a:avLst/>
          </a:prstGeom>
        </p:spPr>
      </p:pic>
      <p:sp>
        <p:nvSpPr>
          <p:cNvPr id="15" name="TextBox 14">
            <a:extLst>
              <a:ext uri="{FF2B5EF4-FFF2-40B4-BE49-F238E27FC236}">
                <a16:creationId xmlns:a16="http://schemas.microsoft.com/office/drawing/2014/main" id="{309986B4-5F62-4314-8285-237B9AE9151D}"/>
              </a:ext>
            </a:extLst>
          </p:cNvPr>
          <p:cNvSpPr txBox="1"/>
          <p:nvPr/>
        </p:nvSpPr>
        <p:spPr>
          <a:xfrm>
            <a:off x="8578909" y="2374205"/>
            <a:ext cx="413896" cy="646331"/>
          </a:xfrm>
          <a:prstGeom prst="rect">
            <a:avLst/>
          </a:prstGeom>
          <a:noFill/>
        </p:spPr>
        <p:txBody>
          <a:bodyPr wrap="none" rtlCol="0">
            <a:spAutoFit/>
          </a:bodyPr>
          <a:lstStyle/>
          <a:p>
            <a:r>
              <a:rPr lang="en-US" sz="3600" dirty="0"/>
              <a:t>+</a:t>
            </a:r>
          </a:p>
        </p:txBody>
      </p:sp>
      <p:sp>
        <p:nvSpPr>
          <p:cNvPr id="24" name="TextBox 23">
            <a:extLst>
              <a:ext uri="{FF2B5EF4-FFF2-40B4-BE49-F238E27FC236}">
                <a16:creationId xmlns:a16="http://schemas.microsoft.com/office/drawing/2014/main" id="{A877BB87-0A30-4616-BA88-66B1E57DB3DB}"/>
              </a:ext>
            </a:extLst>
          </p:cNvPr>
          <p:cNvSpPr txBox="1"/>
          <p:nvPr/>
        </p:nvSpPr>
        <p:spPr>
          <a:xfrm>
            <a:off x="4371934" y="2229789"/>
            <a:ext cx="1510863" cy="369332"/>
          </a:xfrm>
          <a:prstGeom prst="rect">
            <a:avLst/>
          </a:prstGeom>
          <a:noFill/>
        </p:spPr>
        <p:txBody>
          <a:bodyPr wrap="none" rtlCol="0">
            <a:spAutoFit/>
          </a:bodyPr>
          <a:lstStyle/>
          <a:p>
            <a:r>
              <a:rPr lang="en-US" b="1" dirty="0"/>
              <a:t>Chymotrypsin</a:t>
            </a:r>
          </a:p>
        </p:txBody>
      </p:sp>
      <p:sp>
        <p:nvSpPr>
          <p:cNvPr id="25" name="TextBox 24">
            <a:extLst>
              <a:ext uri="{FF2B5EF4-FFF2-40B4-BE49-F238E27FC236}">
                <a16:creationId xmlns:a16="http://schemas.microsoft.com/office/drawing/2014/main" id="{1EA81F85-24A2-4085-AFEE-428226B81DE4}"/>
              </a:ext>
            </a:extLst>
          </p:cNvPr>
          <p:cNvSpPr txBox="1"/>
          <p:nvPr/>
        </p:nvSpPr>
        <p:spPr>
          <a:xfrm>
            <a:off x="3934315" y="2663320"/>
            <a:ext cx="2540562" cy="643151"/>
          </a:xfrm>
          <a:prstGeom prst="rect">
            <a:avLst/>
          </a:prstGeom>
          <a:noFill/>
        </p:spPr>
        <p:txBody>
          <a:bodyPr wrap="square" rtlCol="0">
            <a:spAutoFit/>
          </a:bodyPr>
          <a:lstStyle/>
          <a:p>
            <a:r>
              <a:rPr lang="en-US" dirty="0"/>
              <a:t>(Next to large aromatic amino acid)</a:t>
            </a:r>
          </a:p>
        </p:txBody>
      </p:sp>
      <p:sp>
        <p:nvSpPr>
          <p:cNvPr id="16" name="TextBox 15">
            <a:extLst>
              <a:ext uri="{FF2B5EF4-FFF2-40B4-BE49-F238E27FC236}">
                <a16:creationId xmlns:a16="http://schemas.microsoft.com/office/drawing/2014/main" id="{1BE98C47-2093-44AD-8128-17CA38620FA6}"/>
              </a:ext>
            </a:extLst>
          </p:cNvPr>
          <p:cNvSpPr txBox="1"/>
          <p:nvPr/>
        </p:nvSpPr>
        <p:spPr>
          <a:xfrm>
            <a:off x="3934315" y="4078014"/>
            <a:ext cx="4412298" cy="369332"/>
          </a:xfrm>
          <a:prstGeom prst="rect">
            <a:avLst/>
          </a:prstGeom>
          <a:noFill/>
        </p:spPr>
        <p:txBody>
          <a:bodyPr wrap="none" rtlCol="0">
            <a:spAutoFit/>
          </a:bodyPr>
          <a:lstStyle/>
          <a:p>
            <a:r>
              <a:rPr lang="en-US" dirty="0"/>
              <a:t>What residue could we use as a </a:t>
            </a:r>
            <a:r>
              <a:rPr lang="en-US" b="1" dirty="0">
                <a:solidFill>
                  <a:schemeClr val="accent1">
                    <a:lumMod val="75000"/>
                  </a:schemeClr>
                </a:solidFill>
              </a:rPr>
              <a:t>nucleophile</a:t>
            </a:r>
            <a:r>
              <a:rPr lang="en-US" dirty="0"/>
              <a:t>?</a:t>
            </a:r>
          </a:p>
        </p:txBody>
      </p:sp>
      <p:sp>
        <p:nvSpPr>
          <p:cNvPr id="26" name="TextBox 25">
            <a:extLst>
              <a:ext uri="{FF2B5EF4-FFF2-40B4-BE49-F238E27FC236}">
                <a16:creationId xmlns:a16="http://schemas.microsoft.com/office/drawing/2014/main" id="{AB9251C2-95FF-4F85-A67E-2C703395E1ED}"/>
              </a:ext>
            </a:extLst>
          </p:cNvPr>
          <p:cNvSpPr txBox="1"/>
          <p:nvPr/>
        </p:nvSpPr>
        <p:spPr>
          <a:xfrm>
            <a:off x="9942786" y="112991"/>
            <a:ext cx="2021131" cy="369332"/>
          </a:xfrm>
          <a:prstGeom prst="rect">
            <a:avLst/>
          </a:prstGeom>
          <a:noFill/>
        </p:spPr>
        <p:txBody>
          <a:bodyPr wrap="none" rtlCol="0">
            <a:spAutoFit/>
          </a:bodyPr>
          <a:lstStyle/>
          <a:p>
            <a:r>
              <a:rPr lang="en-US" b="1" dirty="0">
                <a:solidFill>
                  <a:srgbClr val="7030A0"/>
                </a:solidFill>
              </a:rPr>
              <a:t>Notebook question</a:t>
            </a:r>
          </a:p>
        </p:txBody>
      </p:sp>
      <p:sp>
        <p:nvSpPr>
          <p:cNvPr id="27" name="Rectangle 26">
            <a:extLst>
              <a:ext uri="{FF2B5EF4-FFF2-40B4-BE49-F238E27FC236}">
                <a16:creationId xmlns:a16="http://schemas.microsoft.com/office/drawing/2014/main" id="{D46664C4-A506-403C-9F60-5E398B80AA6D}"/>
              </a:ext>
            </a:extLst>
          </p:cNvPr>
          <p:cNvSpPr/>
          <p:nvPr/>
        </p:nvSpPr>
        <p:spPr>
          <a:xfrm>
            <a:off x="9942786" y="112991"/>
            <a:ext cx="2021131" cy="369332"/>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5130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679F-8A07-4707-AFDC-0C4D1C4A6A3A}"/>
              </a:ext>
            </a:extLst>
          </p:cNvPr>
          <p:cNvSpPr>
            <a:spLocks noGrp="1"/>
          </p:cNvSpPr>
          <p:nvPr>
            <p:ph type="title"/>
          </p:nvPr>
        </p:nvSpPr>
        <p:spPr/>
        <p:txBody>
          <a:bodyPr/>
          <a:lstStyle/>
          <a:p>
            <a:r>
              <a:rPr lang="en-US" dirty="0">
                <a:latin typeface="Palatino Linotype" panose="02040502050505030304" pitchFamily="18" charset="0"/>
              </a:rPr>
              <a:t>Chymotrypsin – active site</a:t>
            </a:r>
          </a:p>
        </p:txBody>
      </p:sp>
      <p:pic>
        <p:nvPicPr>
          <p:cNvPr id="9" name="Picture 8">
            <a:extLst>
              <a:ext uri="{FF2B5EF4-FFF2-40B4-BE49-F238E27FC236}">
                <a16:creationId xmlns:a16="http://schemas.microsoft.com/office/drawing/2014/main" id="{C467222A-48AC-4FA2-834C-C8E20AE6C2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2395263"/>
            <a:ext cx="3145221" cy="2725175"/>
          </a:xfrm>
          <a:prstGeom prst="rect">
            <a:avLst/>
          </a:prstGeom>
        </p:spPr>
      </p:pic>
      <p:sp>
        <p:nvSpPr>
          <p:cNvPr id="12" name="TextBox 11">
            <a:extLst>
              <a:ext uri="{FF2B5EF4-FFF2-40B4-BE49-F238E27FC236}">
                <a16:creationId xmlns:a16="http://schemas.microsoft.com/office/drawing/2014/main" id="{DD73BA56-DF86-448D-8D61-0D2EC0A1DEB5}"/>
              </a:ext>
            </a:extLst>
          </p:cNvPr>
          <p:cNvSpPr txBox="1"/>
          <p:nvPr/>
        </p:nvSpPr>
        <p:spPr>
          <a:xfrm>
            <a:off x="1072055" y="5297214"/>
            <a:ext cx="2374368" cy="369332"/>
          </a:xfrm>
          <a:prstGeom prst="rect">
            <a:avLst/>
          </a:prstGeom>
          <a:noFill/>
        </p:spPr>
        <p:txBody>
          <a:bodyPr wrap="none" rtlCol="0">
            <a:spAutoFit/>
          </a:bodyPr>
          <a:lstStyle/>
          <a:p>
            <a:r>
              <a:rPr lang="en-US" b="1" dirty="0">
                <a:solidFill>
                  <a:srgbClr val="D60093"/>
                </a:solidFill>
              </a:rPr>
              <a:t>Serine</a:t>
            </a:r>
            <a:r>
              <a:rPr lang="en-US" dirty="0"/>
              <a:t>: our nucleophile</a:t>
            </a:r>
            <a:endParaRPr lang="en-US" b="1" dirty="0"/>
          </a:p>
        </p:txBody>
      </p:sp>
      <p:sp>
        <p:nvSpPr>
          <p:cNvPr id="13" name="TextBox 12">
            <a:extLst>
              <a:ext uri="{FF2B5EF4-FFF2-40B4-BE49-F238E27FC236}">
                <a16:creationId xmlns:a16="http://schemas.microsoft.com/office/drawing/2014/main" id="{E9A109E8-5AEF-43AE-9CE6-5956C834DFB6}"/>
              </a:ext>
            </a:extLst>
          </p:cNvPr>
          <p:cNvSpPr txBox="1"/>
          <p:nvPr/>
        </p:nvSpPr>
        <p:spPr>
          <a:xfrm>
            <a:off x="4582510" y="3647089"/>
            <a:ext cx="5571269" cy="369332"/>
          </a:xfrm>
          <a:prstGeom prst="rect">
            <a:avLst/>
          </a:prstGeom>
          <a:noFill/>
        </p:spPr>
        <p:txBody>
          <a:bodyPr wrap="none" rtlCol="0">
            <a:spAutoFit/>
          </a:bodyPr>
          <a:lstStyle/>
          <a:p>
            <a:r>
              <a:rPr lang="en-US" dirty="0"/>
              <a:t>Are (protonated) alcohols particularly good nucleophiles?</a:t>
            </a:r>
          </a:p>
        </p:txBody>
      </p:sp>
      <p:sp>
        <p:nvSpPr>
          <p:cNvPr id="3" name="TextBox 2">
            <a:extLst>
              <a:ext uri="{FF2B5EF4-FFF2-40B4-BE49-F238E27FC236}">
                <a16:creationId xmlns:a16="http://schemas.microsoft.com/office/drawing/2014/main" id="{98979A3E-EBD9-412C-B9C8-879DB273E54B}"/>
              </a:ext>
            </a:extLst>
          </p:cNvPr>
          <p:cNvSpPr txBox="1"/>
          <p:nvPr/>
        </p:nvSpPr>
        <p:spPr>
          <a:xfrm>
            <a:off x="6926317" y="4824248"/>
            <a:ext cx="530915" cy="369332"/>
          </a:xfrm>
          <a:prstGeom prst="rect">
            <a:avLst/>
          </a:prstGeom>
          <a:noFill/>
        </p:spPr>
        <p:txBody>
          <a:bodyPr wrap="none" rtlCol="0">
            <a:spAutoFit/>
          </a:bodyPr>
          <a:lstStyle/>
          <a:p>
            <a:r>
              <a:rPr lang="en-US" dirty="0"/>
              <a:t>No!</a:t>
            </a:r>
          </a:p>
        </p:txBody>
      </p:sp>
    </p:spTree>
    <p:extLst>
      <p:ext uri="{BB962C8B-B14F-4D97-AF65-F5344CB8AC3E}">
        <p14:creationId xmlns:p14="http://schemas.microsoft.com/office/powerpoint/2010/main" val="192823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679F-8A07-4707-AFDC-0C4D1C4A6A3A}"/>
              </a:ext>
            </a:extLst>
          </p:cNvPr>
          <p:cNvSpPr>
            <a:spLocks noGrp="1"/>
          </p:cNvSpPr>
          <p:nvPr>
            <p:ph type="title"/>
          </p:nvPr>
        </p:nvSpPr>
        <p:spPr/>
        <p:txBody>
          <a:bodyPr/>
          <a:lstStyle/>
          <a:p>
            <a:r>
              <a:rPr lang="en-US" dirty="0">
                <a:latin typeface="Palatino Linotype" panose="02040502050505030304" pitchFamily="18" charset="0"/>
              </a:rPr>
              <a:t>Chymotrypsin – active site</a:t>
            </a:r>
          </a:p>
        </p:txBody>
      </p:sp>
      <p:cxnSp>
        <p:nvCxnSpPr>
          <p:cNvPr id="6" name="Straight Arrow Connector 5">
            <a:extLst>
              <a:ext uri="{FF2B5EF4-FFF2-40B4-BE49-F238E27FC236}">
                <a16:creationId xmlns:a16="http://schemas.microsoft.com/office/drawing/2014/main" id="{1061A60F-AEDB-4366-A0F5-09ECD53404E9}"/>
              </a:ext>
            </a:extLst>
          </p:cNvPr>
          <p:cNvCxnSpPr>
            <a:cxnSpLocks/>
          </p:cNvCxnSpPr>
          <p:nvPr/>
        </p:nvCxnSpPr>
        <p:spPr>
          <a:xfrm>
            <a:off x="4594491" y="3558757"/>
            <a:ext cx="254056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467222A-48AC-4FA2-834C-C8E20AE6C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2395263"/>
            <a:ext cx="3145221" cy="2725175"/>
          </a:xfrm>
          <a:prstGeom prst="rect">
            <a:avLst/>
          </a:prstGeom>
        </p:spPr>
      </p:pic>
      <p:pic>
        <p:nvPicPr>
          <p:cNvPr id="11" name="Picture 10">
            <a:extLst>
              <a:ext uri="{FF2B5EF4-FFF2-40B4-BE49-F238E27FC236}">
                <a16:creationId xmlns:a16="http://schemas.microsoft.com/office/drawing/2014/main" id="{5F9F7AE0-15E5-46EF-8571-2B398FB72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8925" y="2265051"/>
            <a:ext cx="3145220" cy="2855387"/>
          </a:xfrm>
          <a:prstGeom prst="rect">
            <a:avLst/>
          </a:prstGeom>
        </p:spPr>
      </p:pic>
      <p:sp>
        <p:nvSpPr>
          <p:cNvPr id="3" name="TextBox 2">
            <a:extLst>
              <a:ext uri="{FF2B5EF4-FFF2-40B4-BE49-F238E27FC236}">
                <a16:creationId xmlns:a16="http://schemas.microsoft.com/office/drawing/2014/main" id="{CEDB4E9F-0E35-4175-86B2-E5C7D2DE7D0F}"/>
              </a:ext>
            </a:extLst>
          </p:cNvPr>
          <p:cNvSpPr txBox="1"/>
          <p:nvPr/>
        </p:nvSpPr>
        <p:spPr>
          <a:xfrm>
            <a:off x="4564063" y="2896603"/>
            <a:ext cx="2764219" cy="646331"/>
          </a:xfrm>
          <a:prstGeom prst="rect">
            <a:avLst/>
          </a:prstGeom>
          <a:noFill/>
        </p:spPr>
        <p:txBody>
          <a:bodyPr wrap="square" rtlCol="0">
            <a:spAutoFit/>
          </a:bodyPr>
          <a:lstStyle/>
          <a:p>
            <a:r>
              <a:rPr lang="en-US" dirty="0"/>
              <a:t>What residues could we use to deprotonate serine?</a:t>
            </a:r>
          </a:p>
        </p:txBody>
      </p:sp>
      <p:sp>
        <p:nvSpPr>
          <p:cNvPr id="7" name="TextBox 6">
            <a:extLst>
              <a:ext uri="{FF2B5EF4-FFF2-40B4-BE49-F238E27FC236}">
                <a16:creationId xmlns:a16="http://schemas.microsoft.com/office/drawing/2014/main" id="{98E8916B-AEE4-4BE8-AF47-C0DB43B72830}"/>
              </a:ext>
            </a:extLst>
          </p:cNvPr>
          <p:cNvSpPr txBox="1"/>
          <p:nvPr/>
        </p:nvSpPr>
        <p:spPr>
          <a:xfrm>
            <a:off x="9942786" y="112991"/>
            <a:ext cx="2021131" cy="369332"/>
          </a:xfrm>
          <a:prstGeom prst="rect">
            <a:avLst/>
          </a:prstGeom>
          <a:noFill/>
        </p:spPr>
        <p:txBody>
          <a:bodyPr wrap="none" rtlCol="0">
            <a:spAutoFit/>
          </a:bodyPr>
          <a:lstStyle/>
          <a:p>
            <a:r>
              <a:rPr lang="en-US" b="1" dirty="0">
                <a:solidFill>
                  <a:srgbClr val="7030A0"/>
                </a:solidFill>
              </a:rPr>
              <a:t>Notebook question</a:t>
            </a:r>
          </a:p>
        </p:txBody>
      </p:sp>
      <p:sp>
        <p:nvSpPr>
          <p:cNvPr id="8" name="Rectangle 7">
            <a:extLst>
              <a:ext uri="{FF2B5EF4-FFF2-40B4-BE49-F238E27FC236}">
                <a16:creationId xmlns:a16="http://schemas.microsoft.com/office/drawing/2014/main" id="{FCF9584F-F05A-4940-B6B7-29DA44620750}"/>
              </a:ext>
            </a:extLst>
          </p:cNvPr>
          <p:cNvSpPr/>
          <p:nvPr/>
        </p:nvSpPr>
        <p:spPr>
          <a:xfrm>
            <a:off x="9942786" y="112991"/>
            <a:ext cx="2021131" cy="369332"/>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46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679F-8A07-4707-AFDC-0C4D1C4A6A3A}"/>
              </a:ext>
            </a:extLst>
          </p:cNvPr>
          <p:cNvSpPr>
            <a:spLocks noGrp="1"/>
          </p:cNvSpPr>
          <p:nvPr>
            <p:ph type="title"/>
          </p:nvPr>
        </p:nvSpPr>
        <p:spPr/>
        <p:txBody>
          <a:bodyPr/>
          <a:lstStyle/>
          <a:p>
            <a:r>
              <a:rPr lang="en-US" dirty="0">
                <a:latin typeface="Palatino Linotype" panose="02040502050505030304" pitchFamily="18" charset="0"/>
              </a:rPr>
              <a:t>Chymotrypsin – active site</a:t>
            </a:r>
          </a:p>
        </p:txBody>
      </p:sp>
      <p:cxnSp>
        <p:nvCxnSpPr>
          <p:cNvPr id="6" name="Straight Arrow Connector 5">
            <a:extLst>
              <a:ext uri="{FF2B5EF4-FFF2-40B4-BE49-F238E27FC236}">
                <a16:creationId xmlns:a16="http://schemas.microsoft.com/office/drawing/2014/main" id="{1061A60F-AEDB-4366-A0F5-09ECD53404E9}"/>
              </a:ext>
            </a:extLst>
          </p:cNvPr>
          <p:cNvCxnSpPr>
            <a:cxnSpLocks/>
          </p:cNvCxnSpPr>
          <p:nvPr/>
        </p:nvCxnSpPr>
        <p:spPr>
          <a:xfrm>
            <a:off x="4594491" y="3558757"/>
            <a:ext cx="254056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467222A-48AC-4FA2-834C-C8E20AE6C2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2395263"/>
            <a:ext cx="3145221" cy="2725175"/>
          </a:xfrm>
          <a:prstGeom prst="rect">
            <a:avLst/>
          </a:prstGeom>
        </p:spPr>
      </p:pic>
      <p:pic>
        <p:nvPicPr>
          <p:cNvPr id="11" name="Picture 10">
            <a:extLst>
              <a:ext uri="{FF2B5EF4-FFF2-40B4-BE49-F238E27FC236}">
                <a16:creationId xmlns:a16="http://schemas.microsoft.com/office/drawing/2014/main" id="{5F9F7AE0-15E5-46EF-8571-2B398FB728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8925" y="2265051"/>
            <a:ext cx="3145220" cy="2855387"/>
          </a:xfrm>
          <a:prstGeom prst="rect">
            <a:avLst/>
          </a:prstGeom>
        </p:spPr>
      </p:pic>
      <p:sp>
        <p:nvSpPr>
          <p:cNvPr id="4" name="TextBox 3">
            <a:extLst>
              <a:ext uri="{FF2B5EF4-FFF2-40B4-BE49-F238E27FC236}">
                <a16:creationId xmlns:a16="http://schemas.microsoft.com/office/drawing/2014/main" id="{50A3B6E7-40F8-42D0-BC94-2FCC67E82A39}"/>
              </a:ext>
            </a:extLst>
          </p:cNvPr>
          <p:cNvSpPr txBox="1"/>
          <p:nvPr/>
        </p:nvSpPr>
        <p:spPr>
          <a:xfrm>
            <a:off x="5078018" y="3189425"/>
            <a:ext cx="1573508" cy="369332"/>
          </a:xfrm>
          <a:prstGeom prst="rect">
            <a:avLst/>
          </a:prstGeom>
          <a:noFill/>
        </p:spPr>
        <p:txBody>
          <a:bodyPr wrap="none" rtlCol="0">
            <a:spAutoFit/>
          </a:bodyPr>
          <a:lstStyle/>
          <a:p>
            <a:r>
              <a:rPr lang="en-US" b="1" dirty="0">
                <a:solidFill>
                  <a:srgbClr val="D60093"/>
                </a:solidFill>
              </a:rPr>
              <a:t>Base</a:t>
            </a:r>
            <a:r>
              <a:rPr lang="en-US" dirty="0">
                <a:solidFill>
                  <a:srgbClr val="D60093"/>
                </a:solidFill>
              </a:rPr>
              <a:t>: </a:t>
            </a:r>
            <a:r>
              <a:rPr lang="en-US" b="1" dirty="0">
                <a:solidFill>
                  <a:srgbClr val="D60093"/>
                </a:solidFill>
              </a:rPr>
              <a:t>histidine</a:t>
            </a:r>
          </a:p>
        </p:txBody>
      </p:sp>
      <p:sp>
        <p:nvSpPr>
          <p:cNvPr id="5" name="TextBox 4">
            <a:extLst>
              <a:ext uri="{FF2B5EF4-FFF2-40B4-BE49-F238E27FC236}">
                <a16:creationId xmlns:a16="http://schemas.microsoft.com/office/drawing/2014/main" id="{93B3E70A-BC93-4733-9D67-FAD6C990395E}"/>
              </a:ext>
            </a:extLst>
          </p:cNvPr>
          <p:cNvSpPr txBox="1"/>
          <p:nvPr/>
        </p:nvSpPr>
        <p:spPr>
          <a:xfrm>
            <a:off x="5297214" y="4908331"/>
            <a:ext cx="3591689" cy="646331"/>
          </a:xfrm>
          <a:prstGeom prst="rect">
            <a:avLst/>
          </a:prstGeom>
          <a:noFill/>
        </p:spPr>
        <p:txBody>
          <a:bodyPr wrap="none" rtlCol="0">
            <a:spAutoFit/>
          </a:bodyPr>
          <a:lstStyle/>
          <a:p>
            <a:r>
              <a:rPr lang="en-US" dirty="0"/>
              <a:t>Is histidine a particularly good base?</a:t>
            </a:r>
          </a:p>
          <a:p>
            <a:r>
              <a:rPr lang="en-US" dirty="0"/>
              <a:t>What is the </a:t>
            </a:r>
            <a:r>
              <a:rPr lang="en-US" dirty="0" err="1"/>
              <a:t>pKa</a:t>
            </a:r>
            <a:r>
              <a:rPr lang="en-US" dirty="0"/>
              <a:t>?</a:t>
            </a:r>
          </a:p>
        </p:txBody>
      </p:sp>
      <p:sp>
        <p:nvSpPr>
          <p:cNvPr id="8" name="TextBox 7">
            <a:extLst>
              <a:ext uri="{FF2B5EF4-FFF2-40B4-BE49-F238E27FC236}">
                <a16:creationId xmlns:a16="http://schemas.microsoft.com/office/drawing/2014/main" id="{6C504B13-1A22-4AD0-ABBA-FB190377E59F}"/>
              </a:ext>
            </a:extLst>
          </p:cNvPr>
          <p:cNvSpPr txBox="1"/>
          <p:nvPr/>
        </p:nvSpPr>
        <p:spPr>
          <a:xfrm>
            <a:off x="9942786" y="112991"/>
            <a:ext cx="2021131" cy="369332"/>
          </a:xfrm>
          <a:prstGeom prst="rect">
            <a:avLst/>
          </a:prstGeom>
          <a:noFill/>
        </p:spPr>
        <p:txBody>
          <a:bodyPr wrap="none" rtlCol="0">
            <a:spAutoFit/>
          </a:bodyPr>
          <a:lstStyle/>
          <a:p>
            <a:r>
              <a:rPr lang="en-US" b="1" dirty="0">
                <a:solidFill>
                  <a:srgbClr val="7030A0"/>
                </a:solidFill>
              </a:rPr>
              <a:t>Notebook question</a:t>
            </a:r>
          </a:p>
        </p:txBody>
      </p:sp>
      <p:sp>
        <p:nvSpPr>
          <p:cNvPr id="10" name="Rectangle 9">
            <a:extLst>
              <a:ext uri="{FF2B5EF4-FFF2-40B4-BE49-F238E27FC236}">
                <a16:creationId xmlns:a16="http://schemas.microsoft.com/office/drawing/2014/main" id="{669325D5-92E0-45D1-BD5A-C9E7125D3443}"/>
              </a:ext>
            </a:extLst>
          </p:cNvPr>
          <p:cNvSpPr/>
          <p:nvPr/>
        </p:nvSpPr>
        <p:spPr>
          <a:xfrm>
            <a:off x="9942786" y="112991"/>
            <a:ext cx="2021131" cy="369332"/>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999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8A2A-D30B-423A-B0FC-270A60751AEA}"/>
              </a:ext>
            </a:extLst>
          </p:cNvPr>
          <p:cNvSpPr>
            <a:spLocks noGrp="1"/>
          </p:cNvSpPr>
          <p:nvPr>
            <p:ph type="title"/>
          </p:nvPr>
        </p:nvSpPr>
        <p:spPr/>
        <p:txBody>
          <a:bodyPr/>
          <a:lstStyle/>
          <a:p>
            <a:r>
              <a:rPr lang="en-US" dirty="0">
                <a:latin typeface="Palatino Linotype" panose="02040502050505030304" pitchFamily="18" charset="0"/>
              </a:rPr>
              <a:t>Chymotrypsin – active site</a:t>
            </a:r>
            <a:endParaRPr lang="en-US" dirty="0"/>
          </a:p>
        </p:txBody>
      </p:sp>
      <p:sp>
        <p:nvSpPr>
          <p:cNvPr id="3" name="Content Placeholder 2">
            <a:extLst>
              <a:ext uri="{FF2B5EF4-FFF2-40B4-BE49-F238E27FC236}">
                <a16:creationId xmlns:a16="http://schemas.microsoft.com/office/drawing/2014/main" id="{9C03C050-7D1A-4B3A-9902-381751A2CCC6}"/>
              </a:ext>
            </a:extLst>
          </p:cNvPr>
          <p:cNvSpPr>
            <a:spLocks noGrp="1"/>
          </p:cNvSpPr>
          <p:nvPr>
            <p:ph idx="1"/>
          </p:nvPr>
        </p:nvSpPr>
        <p:spPr/>
        <p:txBody>
          <a:bodyPr/>
          <a:lstStyle/>
          <a:p>
            <a:r>
              <a:rPr lang="en-US" b="1" dirty="0">
                <a:latin typeface="Palatino Linotype" panose="02040502050505030304" pitchFamily="18" charset="0"/>
              </a:rPr>
              <a:t>Catalytic triad:</a:t>
            </a:r>
            <a:r>
              <a:rPr lang="en-US" dirty="0">
                <a:latin typeface="Palatino Linotype" panose="02040502050505030304" pitchFamily="18" charset="0"/>
              </a:rPr>
              <a:t> produces the active nucleophile: negative serine. Involves: 1) serine 2) histidine to deprotonate the serine 3) aspartate to donate electrons to the histidine and make it a better base</a:t>
            </a:r>
          </a:p>
          <a:p>
            <a:r>
              <a:rPr lang="en-US" dirty="0">
                <a:latin typeface="Palatino Linotype" panose="02040502050505030304" pitchFamily="18" charset="0"/>
              </a:rPr>
              <a:t>From here on out, I’ll refer to just the serine nucleophile, but remember it’s really a complex network of hydrogen bonding and proton exchange</a:t>
            </a:r>
          </a:p>
        </p:txBody>
      </p:sp>
    </p:spTree>
    <p:extLst>
      <p:ext uri="{BB962C8B-B14F-4D97-AF65-F5344CB8AC3E}">
        <p14:creationId xmlns:p14="http://schemas.microsoft.com/office/powerpoint/2010/main" val="3483854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A233-7083-4F74-8877-F0F6DD29AC38}"/>
              </a:ext>
            </a:extLst>
          </p:cNvPr>
          <p:cNvSpPr>
            <a:spLocks noGrp="1"/>
          </p:cNvSpPr>
          <p:nvPr>
            <p:ph type="title"/>
          </p:nvPr>
        </p:nvSpPr>
        <p:spPr/>
        <p:txBody>
          <a:bodyPr/>
          <a:lstStyle/>
          <a:p>
            <a:r>
              <a:rPr lang="en-US" dirty="0">
                <a:latin typeface="Palatino Linotype" panose="02040502050505030304" pitchFamily="18" charset="0"/>
              </a:rPr>
              <a:t>Chymotrypsin: reaction mechanism</a:t>
            </a:r>
          </a:p>
        </p:txBody>
      </p:sp>
      <p:sp>
        <p:nvSpPr>
          <p:cNvPr id="3" name="Content Placeholder 2">
            <a:extLst>
              <a:ext uri="{FF2B5EF4-FFF2-40B4-BE49-F238E27FC236}">
                <a16:creationId xmlns:a16="http://schemas.microsoft.com/office/drawing/2014/main" id="{2D7E60B9-43F9-455F-A0F1-75AE43D41AF9}"/>
              </a:ext>
            </a:extLst>
          </p:cNvPr>
          <p:cNvSpPr>
            <a:spLocks noGrp="1"/>
          </p:cNvSpPr>
          <p:nvPr>
            <p:ph idx="1"/>
          </p:nvPr>
        </p:nvSpPr>
        <p:spPr/>
        <p:txBody>
          <a:bodyPr/>
          <a:lstStyle/>
          <a:p>
            <a:r>
              <a:rPr lang="en-US" dirty="0">
                <a:latin typeface="Palatino Linotype" panose="02040502050505030304" pitchFamily="18" charset="0"/>
              </a:rPr>
              <a:t>“Ping pong” mechanism</a:t>
            </a:r>
          </a:p>
          <a:p>
            <a:r>
              <a:rPr lang="en-US" dirty="0">
                <a:latin typeface="Palatino Linotype" panose="02040502050505030304" pitchFamily="18" charset="0"/>
              </a:rPr>
              <a:t>Phase 1: attachment of substrate to enzyme (formation of tetrahedral intermediate)</a:t>
            </a:r>
          </a:p>
          <a:p>
            <a:r>
              <a:rPr lang="en-US" dirty="0">
                <a:latin typeface="Palatino Linotype" panose="02040502050505030304" pitchFamily="18" charset="0"/>
              </a:rPr>
              <a:t>Phase 2: release of product from enzyme (hydrolytic breakdown of tetrahedral intermediate)</a:t>
            </a:r>
          </a:p>
        </p:txBody>
      </p:sp>
    </p:spTree>
    <p:extLst>
      <p:ext uri="{BB962C8B-B14F-4D97-AF65-F5344CB8AC3E}">
        <p14:creationId xmlns:p14="http://schemas.microsoft.com/office/powerpoint/2010/main" val="2744415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657F11-E0E3-4E0B-9DA0-B2B3F1C75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7" y="680021"/>
            <a:ext cx="1436414" cy="538655"/>
          </a:xfrm>
          <a:prstGeom prst="rect">
            <a:avLst/>
          </a:prstGeom>
        </p:spPr>
      </p:pic>
      <p:pic>
        <p:nvPicPr>
          <p:cNvPr id="7" name="Picture 6">
            <a:extLst>
              <a:ext uri="{FF2B5EF4-FFF2-40B4-BE49-F238E27FC236}">
                <a16:creationId xmlns:a16="http://schemas.microsoft.com/office/drawing/2014/main" id="{1D1655BA-5DAB-42D1-B71D-92E0AA2A70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5460" y="425474"/>
            <a:ext cx="3223829" cy="1409091"/>
          </a:xfrm>
          <a:prstGeom prst="rect">
            <a:avLst/>
          </a:prstGeom>
        </p:spPr>
      </p:pic>
      <p:pic>
        <p:nvPicPr>
          <p:cNvPr id="9" name="Picture 8">
            <a:extLst>
              <a:ext uri="{FF2B5EF4-FFF2-40B4-BE49-F238E27FC236}">
                <a16:creationId xmlns:a16="http://schemas.microsoft.com/office/drawing/2014/main" id="{14F36A08-53D2-47E7-9DF1-C25E051874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8898" y="326384"/>
            <a:ext cx="2989879" cy="1871150"/>
          </a:xfrm>
          <a:prstGeom prst="rect">
            <a:avLst/>
          </a:prstGeom>
        </p:spPr>
      </p:pic>
      <p:pic>
        <p:nvPicPr>
          <p:cNvPr id="11" name="Picture 10">
            <a:extLst>
              <a:ext uri="{FF2B5EF4-FFF2-40B4-BE49-F238E27FC236}">
                <a16:creationId xmlns:a16="http://schemas.microsoft.com/office/drawing/2014/main" id="{E27C7294-588B-44DE-8BAF-E1A25C60A4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48579" y="3941822"/>
            <a:ext cx="1476774" cy="455106"/>
          </a:xfrm>
          <a:prstGeom prst="rect">
            <a:avLst/>
          </a:prstGeom>
        </p:spPr>
      </p:pic>
      <p:pic>
        <p:nvPicPr>
          <p:cNvPr id="13" name="Picture 12">
            <a:extLst>
              <a:ext uri="{FF2B5EF4-FFF2-40B4-BE49-F238E27FC236}">
                <a16:creationId xmlns:a16="http://schemas.microsoft.com/office/drawing/2014/main" id="{A2CC40C1-E6FC-4761-A1DE-1617369860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2166" y="4702947"/>
            <a:ext cx="3252232" cy="1296423"/>
          </a:xfrm>
          <a:prstGeom prst="rect">
            <a:avLst/>
          </a:prstGeom>
        </p:spPr>
      </p:pic>
      <p:pic>
        <p:nvPicPr>
          <p:cNvPr id="15" name="Picture 14">
            <a:extLst>
              <a:ext uri="{FF2B5EF4-FFF2-40B4-BE49-F238E27FC236}">
                <a16:creationId xmlns:a16="http://schemas.microsoft.com/office/drawing/2014/main" id="{A3652AD0-1F0C-45AF-B067-E6D65928E8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14250" y="4601778"/>
            <a:ext cx="3060552" cy="1956230"/>
          </a:xfrm>
          <a:prstGeom prst="rect">
            <a:avLst/>
          </a:prstGeom>
        </p:spPr>
      </p:pic>
      <p:pic>
        <p:nvPicPr>
          <p:cNvPr id="17" name="Picture 16">
            <a:extLst>
              <a:ext uri="{FF2B5EF4-FFF2-40B4-BE49-F238E27FC236}">
                <a16:creationId xmlns:a16="http://schemas.microsoft.com/office/drawing/2014/main" id="{473E01CF-0B4F-4AF3-973F-88CF5A55047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879" y="5349278"/>
            <a:ext cx="1939007" cy="1108004"/>
          </a:xfrm>
          <a:prstGeom prst="rect">
            <a:avLst/>
          </a:prstGeom>
        </p:spPr>
      </p:pic>
      <p:sp>
        <p:nvSpPr>
          <p:cNvPr id="18" name="TextBox 17">
            <a:extLst>
              <a:ext uri="{FF2B5EF4-FFF2-40B4-BE49-F238E27FC236}">
                <a16:creationId xmlns:a16="http://schemas.microsoft.com/office/drawing/2014/main" id="{F1B109A4-2B4F-480D-8AFC-B1D6F2B79A2E}"/>
              </a:ext>
            </a:extLst>
          </p:cNvPr>
          <p:cNvSpPr txBox="1"/>
          <p:nvPr/>
        </p:nvSpPr>
        <p:spPr>
          <a:xfrm>
            <a:off x="1759938" y="626182"/>
            <a:ext cx="413896" cy="646331"/>
          </a:xfrm>
          <a:prstGeom prst="rect">
            <a:avLst/>
          </a:prstGeom>
          <a:noFill/>
        </p:spPr>
        <p:txBody>
          <a:bodyPr wrap="none" rtlCol="0">
            <a:spAutoFit/>
          </a:bodyPr>
          <a:lstStyle/>
          <a:p>
            <a:r>
              <a:rPr lang="en-US" sz="3600" dirty="0"/>
              <a:t>+</a:t>
            </a:r>
          </a:p>
        </p:txBody>
      </p:sp>
      <p:cxnSp>
        <p:nvCxnSpPr>
          <p:cNvPr id="19" name="Straight Arrow Connector 18">
            <a:extLst>
              <a:ext uri="{FF2B5EF4-FFF2-40B4-BE49-F238E27FC236}">
                <a16:creationId xmlns:a16="http://schemas.microsoft.com/office/drawing/2014/main" id="{B184509A-CBB2-4D22-BFE9-F54D939EE521}"/>
              </a:ext>
            </a:extLst>
          </p:cNvPr>
          <p:cNvCxnSpPr>
            <a:cxnSpLocks/>
          </p:cNvCxnSpPr>
          <p:nvPr/>
        </p:nvCxnSpPr>
        <p:spPr>
          <a:xfrm>
            <a:off x="6007577" y="917295"/>
            <a:ext cx="144425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AAFB4C70-F6A1-4499-BDA3-185603E327FD}"/>
              </a:ext>
            </a:extLst>
          </p:cNvPr>
          <p:cNvSpPr/>
          <p:nvPr/>
        </p:nvSpPr>
        <p:spPr>
          <a:xfrm>
            <a:off x="8124422" y="1552195"/>
            <a:ext cx="1925186" cy="1452557"/>
          </a:xfrm>
          <a:custGeom>
            <a:avLst/>
            <a:gdLst>
              <a:gd name="connsiteX0" fmla="*/ 716813 w 1925186"/>
              <a:gd name="connsiteY0" fmla="*/ 238651 h 1452557"/>
              <a:gd name="connsiteX1" fmla="*/ 264868 w 1925186"/>
              <a:gd name="connsiteY1" fmla="*/ 259672 h 1452557"/>
              <a:gd name="connsiteX2" fmla="*/ 2110 w 1925186"/>
              <a:gd name="connsiteY2" fmla="*/ 816720 h 1452557"/>
              <a:gd name="connsiteX3" fmla="*/ 401503 w 1925186"/>
              <a:gd name="connsiteY3" fmla="*/ 1363258 h 1452557"/>
              <a:gd name="connsiteX4" fmla="*/ 1368455 w 1925186"/>
              <a:gd name="connsiteY4" fmla="*/ 1415810 h 1452557"/>
              <a:gd name="connsiteX5" fmla="*/ 1872951 w 1925186"/>
              <a:gd name="connsiteY5" fmla="*/ 995396 h 1452557"/>
              <a:gd name="connsiteX6" fmla="*/ 1904482 w 1925186"/>
              <a:gd name="connsiteY6" fmla="*/ 543451 h 1452557"/>
              <a:gd name="connsiteX7" fmla="*/ 1830910 w 1925186"/>
              <a:gd name="connsiteY7" fmla="*/ 154568 h 1452557"/>
              <a:gd name="connsiteX8" fmla="*/ 1704786 w 1925186"/>
              <a:gd name="connsiteY8" fmla="*/ 49465 h 1452557"/>
              <a:gd name="connsiteX9" fmla="*/ 1368455 w 1925186"/>
              <a:gd name="connsiteY9" fmla="*/ 7423 h 1452557"/>
              <a:gd name="connsiteX10" fmla="*/ 1294882 w 1925186"/>
              <a:gd name="connsiteY10" fmla="*/ 196610 h 1452557"/>
              <a:gd name="connsiteX11" fmla="*/ 1284372 w 1925186"/>
              <a:gd name="connsiteY11" fmla="*/ 501410 h 1452557"/>
              <a:gd name="connsiteX12" fmla="*/ 1158248 w 1925186"/>
              <a:gd name="connsiteY12" fmla="*/ 711617 h 1452557"/>
              <a:gd name="connsiteX13" fmla="*/ 1011103 w 1925186"/>
              <a:gd name="connsiteY13" fmla="*/ 722127 h 1452557"/>
              <a:gd name="connsiteX14" fmla="*/ 748344 w 1925186"/>
              <a:gd name="connsiteY14" fmla="*/ 574982 h 1452557"/>
              <a:gd name="connsiteX15" fmla="*/ 737834 w 1925186"/>
              <a:gd name="connsiteY15" fmla="*/ 333244 h 1452557"/>
              <a:gd name="connsiteX16" fmla="*/ 716813 w 1925186"/>
              <a:gd name="connsiteY16" fmla="*/ 238651 h 145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25186" h="1452557">
                <a:moveTo>
                  <a:pt x="716813" y="238651"/>
                </a:moveTo>
                <a:cubicBezTo>
                  <a:pt x="637985" y="226389"/>
                  <a:pt x="383985" y="163327"/>
                  <a:pt x="264868" y="259672"/>
                </a:cubicBezTo>
                <a:cubicBezTo>
                  <a:pt x="145751" y="356017"/>
                  <a:pt x="-20663" y="632789"/>
                  <a:pt x="2110" y="816720"/>
                </a:cubicBezTo>
                <a:cubicBezTo>
                  <a:pt x="24882" y="1000651"/>
                  <a:pt x="173779" y="1263410"/>
                  <a:pt x="401503" y="1363258"/>
                </a:cubicBezTo>
                <a:cubicBezTo>
                  <a:pt x="629227" y="1463106"/>
                  <a:pt x="1123214" y="1477120"/>
                  <a:pt x="1368455" y="1415810"/>
                </a:cubicBezTo>
                <a:cubicBezTo>
                  <a:pt x="1613696" y="1354500"/>
                  <a:pt x="1783613" y="1140789"/>
                  <a:pt x="1872951" y="995396"/>
                </a:cubicBezTo>
                <a:cubicBezTo>
                  <a:pt x="1962289" y="850003"/>
                  <a:pt x="1911489" y="683589"/>
                  <a:pt x="1904482" y="543451"/>
                </a:cubicBezTo>
                <a:cubicBezTo>
                  <a:pt x="1897475" y="403313"/>
                  <a:pt x="1864193" y="236899"/>
                  <a:pt x="1830910" y="154568"/>
                </a:cubicBezTo>
                <a:cubicBezTo>
                  <a:pt x="1797627" y="72237"/>
                  <a:pt x="1781862" y="73989"/>
                  <a:pt x="1704786" y="49465"/>
                </a:cubicBezTo>
                <a:cubicBezTo>
                  <a:pt x="1627710" y="24941"/>
                  <a:pt x="1436772" y="-17101"/>
                  <a:pt x="1368455" y="7423"/>
                </a:cubicBezTo>
                <a:cubicBezTo>
                  <a:pt x="1300138" y="31947"/>
                  <a:pt x="1308896" y="114279"/>
                  <a:pt x="1294882" y="196610"/>
                </a:cubicBezTo>
                <a:cubicBezTo>
                  <a:pt x="1280868" y="278941"/>
                  <a:pt x="1307144" y="415576"/>
                  <a:pt x="1284372" y="501410"/>
                </a:cubicBezTo>
                <a:cubicBezTo>
                  <a:pt x="1261600" y="587244"/>
                  <a:pt x="1203793" y="674831"/>
                  <a:pt x="1158248" y="711617"/>
                </a:cubicBezTo>
                <a:cubicBezTo>
                  <a:pt x="1112703" y="748403"/>
                  <a:pt x="1079420" y="744900"/>
                  <a:pt x="1011103" y="722127"/>
                </a:cubicBezTo>
                <a:cubicBezTo>
                  <a:pt x="942786" y="699355"/>
                  <a:pt x="793889" y="639796"/>
                  <a:pt x="748344" y="574982"/>
                </a:cubicBezTo>
                <a:cubicBezTo>
                  <a:pt x="702799" y="510168"/>
                  <a:pt x="739586" y="389299"/>
                  <a:pt x="737834" y="333244"/>
                </a:cubicBezTo>
                <a:cubicBezTo>
                  <a:pt x="736082" y="277189"/>
                  <a:pt x="795641" y="250913"/>
                  <a:pt x="716813" y="238651"/>
                </a:cubicBezTo>
                <a:close/>
              </a:path>
            </a:pathLst>
          </a:custGeom>
          <a:solidFill>
            <a:schemeClr val="accent1">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59925F2-6A48-4B51-B007-74C6473E2BE6}"/>
              </a:ext>
            </a:extLst>
          </p:cNvPr>
          <p:cNvSpPr txBox="1"/>
          <p:nvPr/>
        </p:nvSpPr>
        <p:spPr>
          <a:xfrm>
            <a:off x="10201819" y="2128951"/>
            <a:ext cx="1561389" cy="369332"/>
          </a:xfrm>
          <a:prstGeom prst="rect">
            <a:avLst/>
          </a:prstGeom>
          <a:noFill/>
        </p:spPr>
        <p:txBody>
          <a:bodyPr wrap="none" rtlCol="0">
            <a:spAutoFit/>
          </a:bodyPr>
          <a:lstStyle/>
          <a:p>
            <a:r>
              <a:rPr lang="en-US" b="1" dirty="0">
                <a:solidFill>
                  <a:schemeClr val="accent1"/>
                </a:solidFill>
              </a:rPr>
              <a:t>Oxyanion hole</a:t>
            </a:r>
          </a:p>
        </p:txBody>
      </p:sp>
      <p:cxnSp>
        <p:nvCxnSpPr>
          <p:cNvPr id="24" name="Straight Arrow Connector 23">
            <a:extLst>
              <a:ext uri="{FF2B5EF4-FFF2-40B4-BE49-F238E27FC236}">
                <a16:creationId xmlns:a16="http://schemas.microsoft.com/office/drawing/2014/main" id="{F8B4076D-EFC6-4916-8DCD-6DFE90B82786}"/>
              </a:ext>
            </a:extLst>
          </p:cNvPr>
          <p:cNvCxnSpPr>
            <a:cxnSpLocks/>
          </p:cNvCxnSpPr>
          <p:nvPr/>
        </p:nvCxnSpPr>
        <p:spPr>
          <a:xfrm>
            <a:off x="9107321" y="3286453"/>
            <a:ext cx="0" cy="10459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000EBC3E-74CD-4F4A-86D2-4E118BE0AFFD}"/>
              </a:ext>
            </a:extLst>
          </p:cNvPr>
          <p:cNvSpPr/>
          <p:nvPr/>
        </p:nvSpPr>
        <p:spPr>
          <a:xfrm>
            <a:off x="9091686" y="3331779"/>
            <a:ext cx="472728" cy="893380"/>
          </a:xfrm>
          <a:custGeom>
            <a:avLst/>
            <a:gdLst>
              <a:gd name="connsiteX0" fmla="*/ 20783 w 472728"/>
              <a:gd name="connsiteY0" fmla="*/ 0 h 893380"/>
              <a:gd name="connsiteX1" fmla="*/ 52314 w 472728"/>
              <a:gd name="connsiteY1" fmla="*/ 536028 h 893380"/>
              <a:gd name="connsiteX2" fmla="*/ 472728 w 472728"/>
              <a:gd name="connsiteY2" fmla="*/ 893380 h 893380"/>
            </a:gdLst>
            <a:ahLst/>
            <a:cxnLst>
              <a:cxn ang="0">
                <a:pos x="connsiteX0" y="connsiteY0"/>
              </a:cxn>
              <a:cxn ang="0">
                <a:pos x="connsiteX1" y="connsiteY1"/>
              </a:cxn>
              <a:cxn ang="0">
                <a:pos x="connsiteX2" y="connsiteY2"/>
              </a:cxn>
            </a:cxnLst>
            <a:rect l="l" t="t" r="r" b="b"/>
            <a:pathLst>
              <a:path w="472728" h="893380">
                <a:moveTo>
                  <a:pt x="20783" y="0"/>
                </a:moveTo>
                <a:cubicBezTo>
                  <a:pt x="-1114" y="193565"/>
                  <a:pt x="-23010" y="387131"/>
                  <a:pt x="52314" y="536028"/>
                </a:cubicBezTo>
                <a:cubicBezTo>
                  <a:pt x="127638" y="684925"/>
                  <a:pt x="300183" y="789152"/>
                  <a:pt x="472728" y="89338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86949C18-0598-4464-B941-2A524F0B8010}"/>
              </a:ext>
            </a:extLst>
          </p:cNvPr>
          <p:cNvCxnSpPr>
            <a:cxnSpLocks/>
          </p:cNvCxnSpPr>
          <p:nvPr/>
        </p:nvCxnSpPr>
        <p:spPr>
          <a:xfrm flipH="1">
            <a:off x="6274802" y="5694689"/>
            <a:ext cx="117703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B51F4A1-5662-4FAB-99AA-191FB7C746A8}"/>
              </a:ext>
            </a:extLst>
          </p:cNvPr>
          <p:cNvCxnSpPr>
            <a:cxnSpLocks/>
          </p:cNvCxnSpPr>
          <p:nvPr/>
        </p:nvCxnSpPr>
        <p:spPr>
          <a:xfrm flipH="1">
            <a:off x="1966886" y="5873840"/>
            <a:ext cx="117703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6A4A8E8D-3E72-4B23-92A3-251D51B20E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296" y="4063123"/>
            <a:ext cx="1436414" cy="538655"/>
          </a:xfrm>
          <a:prstGeom prst="rect">
            <a:avLst/>
          </a:prstGeom>
        </p:spPr>
      </p:pic>
      <p:sp>
        <p:nvSpPr>
          <p:cNvPr id="32" name="TextBox 31">
            <a:extLst>
              <a:ext uri="{FF2B5EF4-FFF2-40B4-BE49-F238E27FC236}">
                <a16:creationId xmlns:a16="http://schemas.microsoft.com/office/drawing/2014/main" id="{98D65506-A713-49C0-AED0-0A30332DDBA3}"/>
              </a:ext>
            </a:extLst>
          </p:cNvPr>
          <p:cNvSpPr txBox="1"/>
          <p:nvPr/>
        </p:nvSpPr>
        <p:spPr>
          <a:xfrm>
            <a:off x="721764" y="4702947"/>
            <a:ext cx="413896" cy="646331"/>
          </a:xfrm>
          <a:prstGeom prst="rect">
            <a:avLst/>
          </a:prstGeom>
          <a:noFill/>
        </p:spPr>
        <p:txBody>
          <a:bodyPr wrap="none" rtlCol="0">
            <a:spAutoFit/>
          </a:bodyPr>
          <a:lstStyle/>
          <a:p>
            <a:r>
              <a:rPr lang="en-US" sz="3600" dirty="0"/>
              <a:t>+</a:t>
            </a:r>
          </a:p>
        </p:txBody>
      </p:sp>
      <p:sp>
        <p:nvSpPr>
          <p:cNvPr id="33" name="TextBox 32">
            <a:extLst>
              <a:ext uri="{FF2B5EF4-FFF2-40B4-BE49-F238E27FC236}">
                <a16:creationId xmlns:a16="http://schemas.microsoft.com/office/drawing/2014/main" id="{97F5F49A-901A-487E-9E3D-B91E01F4654E}"/>
              </a:ext>
            </a:extLst>
          </p:cNvPr>
          <p:cNvSpPr txBox="1"/>
          <p:nvPr/>
        </p:nvSpPr>
        <p:spPr>
          <a:xfrm>
            <a:off x="27879" y="1482620"/>
            <a:ext cx="1436414" cy="646331"/>
          </a:xfrm>
          <a:prstGeom prst="rect">
            <a:avLst/>
          </a:prstGeom>
          <a:noFill/>
        </p:spPr>
        <p:txBody>
          <a:bodyPr wrap="square" rtlCol="0">
            <a:spAutoFit/>
          </a:bodyPr>
          <a:lstStyle/>
          <a:p>
            <a:pPr algn="ctr"/>
            <a:r>
              <a:rPr lang="en-US" b="1" dirty="0">
                <a:solidFill>
                  <a:schemeClr val="accent6">
                    <a:lumMod val="75000"/>
                  </a:schemeClr>
                </a:solidFill>
              </a:rPr>
              <a:t>Nucleophilic serine</a:t>
            </a:r>
          </a:p>
        </p:txBody>
      </p:sp>
      <p:sp>
        <p:nvSpPr>
          <p:cNvPr id="34" name="TextBox 33">
            <a:extLst>
              <a:ext uri="{FF2B5EF4-FFF2-40B4-BE49-F238E27FC236}">
                <a16:creationId xmlns:a16="http://schemas.microsoft.com/office/drawing/2014/main" id="{C37101D1-05ED-4408-8123-3F2C601AA5F8}"/>
              </a:ext>
            </a:extLst>
          </p:cNvPr>
          <p:cNvSpPr txBox="1"/>
          <p:nvPr/>
        </p:nvSpPr>
        <p:spPr>
          <a:xfrm>
            <a:off x="4057374" y="1272513"/>
            <a:ext cx="1436414" cy="1200329"/>
          </a:xfrm>
          <a:prstGeom prst="rect">
            <a:avLst/>
          </a:prstGeom>
          <a:noFill/>
        </p:spPr>
        <p:txBody>
          <a:bodyPr wrap="square" rtlCol="0">
            <a:spAutoFit/>
          </a:bodyPr>
          <a:lstStyle/>
          <a:p>
            <a:pPr algn="ctr"/>
            <a:r>
              <a:rPr lang="en-US" b="1" dirty="0">
                <a:solidFill>
                  <a:schemeClr val="accent6">
                    <a:lumMod val="75000"/>
                  </a:schemeClr>
                </a:solidFill>
              </a:rPr>
              <a:t>Substrate (R1 is a large aromatic amino acid)</a:t>
            </a:r>
          </a:p>
        </p:txBody>
      </p:sp>
      <p:sp>
        <p:nvSpPr>
          <p:cNvPr id="35" name="TextBox 34">
            <a:extLst>
              <a:ext uri="{FF2B5EF4-FFF2-40B4-BE49-F238E27FC236}">
                <a16:creationId xmlns:a16="http://schemas.microsoft.com/office/drawing/2014/main" id="{885C52D6-38BB-4219-BEAB-5DC290502797}"/>
              </a:ext>
            </a:extLst>
          </p:cNvPr>
          <p:cNvSpPr txBox="1"/>
          <p:nvPr/>
        </p:nvSpPr>
        <p:spPr>
          <a:xfrm>
            <a:off x="9568759" y="22187"/>
            <a:ext cx="1767082" cy="646331"/>
          </a:xfrm>
          <a:prstGeom prst="rect">
            <a:avLst/>
          </a:prstGeom>
          <a:noFill/>
        </p:spPr>
        <p:txBody>
          <a:bodyPr wrap="square" rtlCol="0">
            <a:spAutoFit/>
          </a:bodyPr>
          <a:lstStyle/>
          <a:p>
            <a:pPr algn="ctr"/>
            <a:r>
              <a:rPr lang="en-US" b="1" dirty="0">
                <a:solidFill>
                  <a:schemeClr val="accent6">
                    <a:lumMod val="75000"/>
                  </a:schemeClr>
                </a:solidFill>
              </a:rPr>
              <a:t>Tetrahedral intermediate #1</a:t>
            </a:r>
          </a:p>
        </p:txBody>
      </p:sp>
      <p:sp>
        <p:nvSpPr>
          <p:cNvPr id="36" name="TextBox 35">
            <a:extLst>
              <a:ext uri="{FF2B5EF4-FFF2-40B4-BE49-F238E27FC236}">
                <a16:creationId xmlns:a16="http://schemas.microsoft.com/office/drawing/2014/main" id="{8C520728-F491-439D-83DE-CDD8CE52EB0E}"/>
              </a:ext>
            </a:extLst>
          </p:cNvPr>
          <p:cNvSpPr txBox="1"/>
          <p:nvPr/>
        </p:nvSpPr>
        <p:spPr>
          <a:xfrm>
            <a:off x="4057374" y="3846209"/>
            <a:ext cx="1767082" cy="646331"/>
          </a:xfrm>
          <a:prstGeom prst="rect">
            <a:avLst/>
          </a:prstGeom>
          <a:noFill/>
        </p:spPr>
        <p:txBody>
          <a:bodyPr wrap="square" rtlCol="0">
            <a:spAutoFit/>
          </a:bodyPr>
          <a:lstStyle/>
          <a:p>
            <a:pPr algn="ctr"/>
            <a:r>
              <a:rPr lang="en-US" b="1" dirty="0">
                <a:solidFill>
                  <a:schemeClr val="accent6">
                    <a:lumMod val="75000"/>
                  </a:schemeClr>
                </a:solidFill>
              </a:rPr>
              <a:t>Tetrahedral intermediate #2</a:t>
            </a:r>
          </a:p>
        </p:txBody>
      </p:sp>
      <p:sp>
        <p:nvSpPr>
          <p:cNvPr id="37" name="TextBox 36">
            <a:extLst>
              <a:ext uri="{FF2B5EF4-FFF2-40B4-BE49-F238E27FC236}">
                <a16:creationId xmlns:a16="http://schemas.microsoft.com/office/drawing/2014/main" id="{E0806BD1-8DA8-40F7-9A5F-E6DB1ECA1FA6}"/>
              </a:ext>
            </a:extLst>
          </p:cNvPr>
          <p:cNvSpPr txBox="1"/>
          <p:nvPr/>
        </p:nvSpPr>
        <p:spPr>
          <a:xfrm>
            <a:off x="8455124" y="5967694"/>
            <a:ext cx="1767082" cy="646331"/>
          </a:xfrm>
          <a:prstGeom prst="rect">
            <a:avLst/>
          </a:prstGeom>
          <a:noFill/>
        </p:spPr>
        <p:txBody>
          <a:bodyPr wrap="square" rtlCol="0">
            <a:spAutoFit/>
          </a:bodyPr>
          <a:lstStyle/>
          <a:p>
            <a:pPr algn="ctr"/>
            <a:r>
              <a:rPr lang="en-US" b="1" dirty="0">
                <a:solidFill>
                  <a:schemeClr val="accent6">
                    <a:lumMod val="75000"/>
                  </a:schemeClr>
                </a:solidFill>
              </a:rPr>
              <a:t>Acyl-enzyme intermediate</a:t>
            </a:r>
          </a:p>
        </p:txBody>
      </p:sp>
      <p:sp>
        <p:nvSpPr>
          <p:cNvPr id="38" name="TextBox 37">
            <a:extLst>
              <a:ext uri="{FF2B5EF4-FFF2-40B4-BE49-F238E27FC236}">
                <a16:creationId xmlns:a16="http://schemas.microsoft.com/office/drawing/2014/main" id="{80274A1A-A0A3-496E-864D-E03925ED7DB0}"/>
              </a:ext>
            </a:extLst>
          </p:cNvPr>
          <p:cNvSpPr txBox="1"/>
          <p:nvPr/>
        </p:nvSpPr>
        <p:spPr>
          <a:xfrm>
            <a:off x="9699528" y="3312637"/>
            <a:ext cx="1767082" cy="369332"/>
          </a:xfrm>
          <a:prstGeom prst="rect">
            <a:avLst/>
          </a:prstGeom>
          <a:noFill/>
        </p:spPr>
        <p:txBody>
          <a:bodyPr wrap="square" rtlCol="0">
            <a:spAutoFit/>
          </a:bodyPr>
          <a:lstStyle/>
          <a:p>
            <a:pPr algn="ctr"/>
            <a:r>
              <a:rPr lang="en-US" b="1" dirty="0">
                <a:solidFill>
                  <a:schemeClr val="accent6">
                    <a:lumMod val="75000"/>
                  </a:schemeClr>
                </a:solidFill>
              </a:rPr>
              <a:t>Product #1</a:t>
            </a:r>
          </a:p>
        </p:txBody>
      </p:sp>
      <p:sp>
        <p:nvSpPr>
          <p:cNvPr id="39" name="TextBox 38">
            <a:extLst>
              <a:ext uri="{FF2B5EF4-FFF2-40B4-BE49-F238E27FC236}">
                <a16:creationId xmlns:a16="http://schemas.microsoft.com/office/drawing/2014/main" id="{D728D92C-4560-477F-BF48-E2E560A43F78}"/>
              </a:ext>
            </a:extLst>
          </p:cNvPr>
          <p:cNvSpPr txBox="1"/>
          <p:nvPr/>
        </p:nvSpPr>
        <p:spPr>
          <a:xfrm>
            <a:off x="113841" y="6373342"/>
            <a:ext cx="1767082" cy="369332"/>
          </a:xfrm>
          <a:prstGeom prst="rect">
            <a:avLst/>
          </a:prstGeom>
          <a:noFill/>
        </p:spPr>
        <p:txBody>
          <a:bodyPr wrap="square" rtlCol="0">
            <a:spAutoFit/>
          </a:bodyPr>
          <a:lstStyle/>
          <a:p>
            <a:pPr algn="ctr"/>
            <a:r>
              <a:rPr lang="en-US" b="1" dirty="0">
                <a:solidFill>
                  <a:schemeClr val="accent6">
                    <a:lumMod val="75000"/>
                  </a:schemeClr>
                </a:solidFill>
              </a:rPr>
              <a:t>Product #2</a:t>
            </a:r>
          </a:p>
        </p:txBody>
      </p:sp>
      <p:sp>
        <p:nvSpPr>
          <p:cNvPr id="40" name="TextBox 39">
            <a:extLst>
              <a:ext uri="{FF2B5EF4-FFF2-40B4-BE49-F238E27FC236}">
                <a16:creationId xmlns:a16="http://schemas.microsoft.com/office/drawing/2014/main" id="{675FAADF-2C59-4CAE-8051-C58B080FC39B}"/>
              </a:ext>
            </a:extLst>
          </p:cNvPr>
          <p:cNvSpPr txBox="1"/>
          <p:nvPr/>
        </p:nvSpPr>
        <p:spPr>
          <a:xfrm>
            <a:off x="85962" y="3486286"/>
            <a:ext cx="1767082" cy="646331"/>
          </a:xfrm>
          <a:prstGeom prst="rect">
            <a:avLst/>
          </a:prstGeom>
          <a:noFill/>
        </p:spPr>
        <p:txBody>
          <a:bodyPr wrap="square" rtlCol="0">
            <a:spAutoFit/>
          </a:bodyPr>
          <a:lstStyle/>
          <a:p>
            <a:pPr algn="ctr"/>
            <a:r>
              <a:rPr lang="en-US" b="1" dirty="0">
                <a:solidFill>
                  <a:schemeClr val="accent6">
                    <a:lumMod val="75000"/>
                  </a:schemeClr>
                </a:solidFill>
              </a:rPr>
              <a:t>Regenerated enzyme</a:t>
            </a:r>
          </a:p>
        </p:txBody>
      </p:sp>
      <p:sp>
        <p:nvSpPr>
          <p:cNvPr id="28" name="Freeform: Shape 27">
            <a:extLst>
              <a:ext uri="{FF2B5EF4-FFF2-40B4-BE49-F238E27FC236}">
                <a16:creationId xmlns:a16="http://schemas.microsoft.com/office/drawing/2014/main" id="{F05E7615-3D62-4445-B9A3-7029E71E0BDD}"/>
              </a:ext>
            </a:extLst>
          </p:cNvPr>
          <p:cNvSpPr/>
          <p:nvPr/>
        </p:nvSpPr>
        <p:spPr>
          <a:xfrm rot="3169921">
            <a:off x="7050279" y="950375"/>
            <a:ext cx="1346236" cy="1072104"/>
          </a:xfrm>
          <a:custGeom>
            <a:avLst/>
            <a:gdLst>
              <a:gd name="connsiteX0" fmla="*/ 716813 w 1925186"/>
              <a:gd name="connsiteY0" fmla="*/ 238651 h 1452557"/>
              <a:gd name="connsiteX1" fmla="*/ 264868 w 1925186"/>
              <a:gd name="connsiteY1" fmla="*/ 259672 h 1452557"/>
              <a:gd name="connsiteX2" fmla="*/ 2110 w 1925186"/>
              <a:gd name="connsiteY2" fmla="*/ 816720 h 1452557"/>
              <a:gd name="connsiteX3" fmla="*/ 401503 w 1925186"/>
              <a:gd name="connsiteY3" fmla="*/ 1363258 h 1452557"/>
              <a:gd name="connsiteX4" fmla="*/ 1368455 w 1925186"/>
              <a:gd name="connsiteY4" fmla="*/ 1415810 h 1452557"/>
              <a:gd name="connsiteX5" fmla="*/ 1872951 w 1925186"/>
              <a:gd name="connsiteY5" fmla="*/ 995396 h 1452557"/>
              <a:gd name="connsiteX6" fmla="*/ 1904482 w 1925186"/>
              <a:gd name="connsiteY6" fmla="*/ 543451 h 1452557"/>
              <a:gd name="connsiteX7" fmla="*/ 1830910 w 1925186"/>
              <a:gd name="connsiteY7" fmla="*/ 154568 h 1452557"/>
              <a:gd name="connsiteX8" fmla="*/ 1704786 w 1925186"/>
              <a:gd name="connsiteY8" fmla="*/ 49465 h 1452557"/>
              <a:gd name="connsiteX9" fmla="*/ 1368455 w 1925186"/>
              <a:gd name="connsiteY9" fmla="*/ 7423 h 1452557"/>
              <a:gd name="connsiteX10" fmla="*/ 1294882 w 1925186"/>
              <a:gd name="connsiteY10" fmla="*/ 196610 h 1452557"/>
              <a:gd name="connsiteX11" fmla="*/ 1284372 w 1925186"/>
              <a:gd name="connsiteY11" fmla="*/ 501410 h 1452557"/>
              <a:gd name="connsiteX12" fmla="*/ 1158248 w 1925186"/>
              <a:gd name="connsiteY12" fmla="*/ 711617 h 1452557"/>
              <a:gd name="connsiteX13" fmla="*/ 1011103 w 1925186"/>
              <a:gd name="connsiteY13" fmla="*/ 722127 h 1452557"/>
              <a:gd name="connsiteX14" fmla="*/ 748344 w 1925186"/>
              <a:gd name="connsiteY14" fmla="*/ 574982 h 1452557"/>
              <a:gd name="connsiteX15" fmla="*/ 737834 w 1925186"/>
              <a:gd name="connsiteY15" fmla="*/ 333244 h 1452557"/>
              <a:gd name="connsiteX16" fmla="*/ 716813 w 1925186"/>
              <a:gd name="connsiteY16" fmla="*/ 238651 h 145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25186" h="1452557">
                <a:moveTo>
                  <a:pt x="716813" y="238651"/>
                </a:moveTo>
                <a:cubicBezTo>
                  <a:pt x="637985" y="226389"/>
                  <a:pt x="383985" y="163327"/>
                  <a:pt x="264868" y="259672"/>
                </a:cubicBezTo>
                <a:cubicBezTo>
                  <a:pt x="145751" y="356017"/>
                  <a:pt x="-20663" y="632789"/>
                  <a:pt x="2110" y="816720"/>
                </a:cubicBezTo>
                <a:cubicBezTo>
                  <a:pt x="24882" y="1000651"/>
                  <a:pt x="173779" y="1263410"/>
                  <a:pt x="401503" y="1363258"/>
                </a:cubicBezTo>
                <a:cubicBezTo>
                  <a:pt x="629227" y="1463106"/>
                  <a:pt x="1123214" y="1477120"/>
                  <a:pt x="1368455" y="1415810"/>
                </a:cubicBezTo>
                <a:cubicBezTo>
                  <a:pt x="1613696" y="1354500"/>
                  <a:pt x="1783613" y="1140789"/>
                  <a:pt x="1872951" y="995396"/>
                </a:cubicBezTo>
                <a:cubicBezTo>
                  <a:pt x="1962289" y="850003"/>
                  <a:pt x="1911489" y="683589"/>
                  <a:pt x="1904482" y="543451"/>
                </a:cubicBezTo>
                <a:cubicBezTo>
                  <a:pt x="1897475" y="403313"/>
                  <a:pt x="1864193" y="236899"/>
                  <a:pt x="1830910" y="154568"/>
                </a:cubicBezTo>
                <a:cubicBezTo>
                  <a:pt x="1797627" y="72237"/>
                  <a:pt x="1781862" y="73989"/>
                  <a:pt x="1704786" y="49465"/>
                </a:cubicBezTo>
                <a:cubicBezTo>
                  <a:pt x="1627710" y="24941"/>
                  <a:pt x="1436772" y="-17101"/>
                  <a:pt x="1368455" y="7423"/>
                </a:cubicBezTo>
                <a:cubicBezTo>
                  <a:pt x="1300138" y="31947"/>
                  <a:pt x="1308896" y="114279"/>
                  <a:pt x="1294882" y="196610"/>
                </a:cubicBezTo>
                <a:cubicBezTo>
                  <a:pt x="1280868" y="278941"/>
                  <a:pt x="1307144" y="415576"/>
                  <a:pt x="1284372" y="501410"/>
                </a:cubicBezTo>
                <a:cubicBezTo>
                  <a:pt x="1261600" y="587244"/>
                  <a:pt x="1203793" y="674831"/>
                  <a:pt x="1158248" y="711617"/>
                </a:cubicBezTo>
                <a:cubicBezTo>
                  <a:pt x="1112703" y="748403"/>
                  <a:pt x="1079420" y="744900"/>
                  <a:pt x="1011103" y="722127"/>
                </a:cubicBezTo>
                <a:cubicBezTo>
                  <a:pt x="942786" y="699355"/>
                  <a:pt x="793889" y="639796"/>
                  <a:pt x="748344" y="574982"/>
                </a:cubicBezTo>
                <a:cubicBezTo>
                  <a:pt x="702799" y="510168"/>
                  <a:pt x="739586" y="389299"/>
                  <a:pt x="737834" y="333244"/>
                </a:cubicBezTo>
                <a:cubicBezTo>
                  <a:pt x="736082" y="277189"/>
                  <a:pt x="795641" y="250913"/>
                  <a:pt x="716813" y="238651"/>
                </a:cubicBezTo>
                <a:close/>
              </a:path>
            </a:pathLst>
          </a:custGeom>
          <a:solidFill>
            <a:schemeClr val="accent4">
              <a:alpha val="27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B7FA242-3A8D-4DA8-B489-4E1B659915C1}"/>
              </a:ext>
            </a:extLst>
          </p:cNvPr>
          <p:cNvSpPr txBox="1"/>
          <p:nvPr/>
        </p:nvSpPr>
        <p:spPr>
          <a:xfrm>
            <a:off x="6529509" y="2091862"/>
            <a:ext cx="1436414" cy="646331"/>
          </a:xfrm>
          <a:prstGeom prst="rect">
            <a:avLst/>
          </a:prstGeom>
          <a:noFill/>
        </p:spPr>
        <p:txBody>
          <a:bodyPr wrap="square" rtlCol="0">
            <a:spAutoFit/>
          </a:bodyPr>
          <a:lstStyle/>
          <a:p>
            <a:pPr algn="ctr"/>
            <a:r>
              <a:rPr lang="en-US" b="1" dirty="0">
                <a:solidFill>
                  <a:schemeClr val="accent4">
                    <a:lumMod val="50000"/>
                  </a:schemeClr>
                </a:solidFill>
              </a:rPr>
              <a:t>Hydrophobic pocket</a:t>
            </a:r>
          </a:p>
        </p:txBody>
      </p:sp>
      <p:sp>
        <p:nvSpPr>
          <p:cNvPr id="29" name="Freeform: Shape 28">
            <a:extLst>
              <a:ext uri="{FF2B5EF4-FFF2-40B4-BE49-F238E27FC236}">
                <a16:creationId xmlns:a16="http://schemas.microsoft.com/office/drawing/2014/main" id="{7F9AE3A7-ABAE-4AC9-AA17-9FDB71598B52}"/>
              </a:ext>
            </a:extLst>
          </p:cNvPr>
          <p:cNvSpPr/>
          <p:nvPr/>
        </p:nvSpPr>
        <p:spPr>
          <a:xfrm rot="3169921">
            <a:off x="1759182" y="624184"/>
            <a:ext cx="1346236" cy="1072104"/>
          </a:xfrm>
          <a:custGeom>
            <a:avLst/>
            <a:gdLst>
              <a:gd name="connsiteX0" fmla="*/ 716813 w 1925186"/>
              <a:gd name="connsiteY0" fmla="*/ 238651 h 1452557"/>
              <a:gd name="connsiteX1" fmla="*/ 264868 w 1925186"/>
              <a:gd name="connsiteY1" fmla="*/ 259672 h 1452557"/>
              <a:gd name="connsiteX2" fmla="*/ 2110 w 1925186"/>
              <a:gd name="connsiteY2" fmla="*/ 816720 h 1452557"/>
              <a:gd name="connsiteX3" fmla="*/ 401503 w 1925186"/>
              <a:gd name="connsiteY3" fmla="*/ 1363258 h 1452557"/>
              <a:gd name="connsiteX4" fmla="*/ 1368455 w 1925186"/>
              <a:gd name="connsiteY4" fmla="*/ 1415810 h 1452557"/>
              <a:gd name="connsiteX5" fmla="*/ 1872951 w 1925186"/>
              <a:gd name="connsiteY5" fmla="*/ 995396 h 1452557"/>
              <a:gd name="connsiteX6" fmla="*/ 1904482 w 1925186"/>
              <a:gd name="connsiteY6" fmla="*/ 543451 h 1452557"/>
              <a:gd name="connsiteX7" fmla="*/ 1830910 w 1925186"/>
              <a:gd name="connsiteY7" fmla="*/ 154568 h 1452557"/>
              <a:gd name="connsiteX8" fmla="*/ 1704786 w 1925186"/>
              <a:gd name="connsiteY8" fmla="*/ 49465 h 1452557"/>
              <a:gd name="connsiteX9" fmla="*/ 1368455 w 1925186"/>
              <a:gd name="connsiteY9" fmla="*/ 7423 h 1452557"/>
              <a:gd name="connsiteX10" fmla="*/ 1294882 w 1925186"/>
              <a:gd name="connsiteY10" fmla="*/ 196610 h 1452557"/>
              <a:gd name="connsiteX11" fmla="*/ 1284372 w 1925186"/>
              <a:gd name="connsiteY11" fmla="*/ 501410 h 1452557"/>
              <a:gd name="connsiteX12" fmla="*/ 1158248 w 1925186"/>
              <a:gd name="connsiteY12" fmla="*/ 711617 h 1452557"/>
              <a:gd name="connsiteX13" fmla="*/ 1011103 w 1925186"/>
              <a:gd name="connsiteY13" fmla="*/ 722127 h 1452557"/>
              <a:gd name="connsiteX14" fmla="*/ 748344 w 1925186"/>
              <a:gd name="connsiteY14" fmla="*/ 574982 h 1452557"/>
              <a:gd name="connsiteX15" fmla="*/ 737834 w 1925186"/>
              <a:gd name="connsiteY15" fmla="*/ 333244 h 1452557"/>
              <a:gd name="connsiteX16" fmla="*/ 716813 w 1925186"/>
              <a:gd name="connsiteY16" fmla="*/ 238651 h 145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25186" h="1452557">
                <a:moveTo>
                  <a:pt x="716813" y="238651"/>
                </a:moveTo>
                <a:cubicBezTo>
                  <a:pt x="637985" y="226389"/>
                  <a:pt x="383985" y="163327"/>
                  <a:pt x="264868" y="259672"/>
                </a:cubicBezTo>
                <a:cubicBezTo>
                  <a:pt x="145751" y="356017"/>
                  <a:pt x="-20663" y="632789"/>
                  <a:pt x="2110" y="816720"/>
                </a:cubicBezTo>
                <a:cubicBezTo>
                  <a:pt x="24882" y="1000651"/>
                  <a:pt x="173779" y="1263410"/>
                  <a:pt x="401503" y="1363258"/>
                </a:cubicBezTo>
                <a:cubicBezTo>
                  <a:pt x="629227" y="1463106"/>
                  <a:pt x="1123214" y="1477120"/>
                  <a:pt x="1368455" y="1415810"/>
                </a:cubicBezTo>
                <a:cubicBezTo>
                  <a:pt x="1613696" y="1354500"/>
                  <a:pt x="1783613" y="1140789"/>
                  <a:pt x="1872951" y="995396"/>
                </a:cubicBezTo>
                <a:cubicBezTo>
                  <a:pt x="1962289" y="850003"/>
                  <a:pt x="1911489" y="683589"/>
                  <a:pt x="1904482" y="543451"/>
                </a:cubicBezTo>
                <a:cubicBezTo>
                  <a:pt x="1897475" y="403313"/>
                  <a:pt x="1864193" y="236899"/>
                  <a:pt x="1830910" y="154568"/>
                </a:cubicBezTo>
                <a:cubicBezTo>
                  <a:pt x="1797627" y="72237"/>
                  <a:pt x="1781862" y="73989"/>
                  <a:pt x="1704786" y="49465"/>
                </a:cubicBezTo>
                <a:cubicBezTo>
                  <a:pt x="1627710" y="24941"/>
                  <a:pt x="1436772" y="-17101"/>
                  <a:pt x="1368455" y="7423"/>
                </a:cubicBezTo>
                <a:cubicBezTo>
                  <a:pt x="1300138" y="31947"/>
                  <a:pt x="1308896" y="114279"/>
                  <a:pt x="1294882" y="196610"/>
                </a:cubicBezTo>
                <a:cubicBezTo>
                  <a:pt x="1280868" y="278941"/>
                  <a:pt x="1307144" y="415576"/>
                  <a:pt x="1284372" y="501410"/>
                </a:cubicBezTo>
                <a:cubicBezTo>
                  <a:pt x="1261600" y="587244"/>
                  <a:pt x="1203793" y="674831"/>
                  <a:pt x="1158248" y="711617"/>
                </a:cubicBezTo>
                <a:cubicBezTo>
                  <a:pt x="1112703" y="748403"/>
                  <a:pt x="1079420" y="744900"/>
                  <a:pt x="1011103" y="722127"/>
                </a:cubicBezTo>
                <a:cubicBezTo>
                  <a:pt x="942786" y="699355"/>
                  <a:pt x="793889" y="639796"/>
                  <a:pt x="748344" y="574982"/>
                </a:cubicBezTo>
                <a:cubicBezTo>
                  <a:pt x="702799" y="510168"/>
                  <a:pt x="739586" y="389299"/>
                  <a:pt x="737834" y="333244"/>
                </a:cubicBezTo>
                <a:cubicBezTo>
                  <a:pt x="736082" y="277189"/>
                  <a:pt x="795641" y="250913"/>
                  <a:pt x="716813" y="238651"/>
                </a:cubicBezTo>
                <a:close/>
              </a:path>
            </a:pathLst>
          </a:custGeom>
          <a:solidFill>
            <a:schemeClr val="accent4">
              <a:alpha val="27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71D665F-DAD4-4F2D-8A98-52857D26F9D8}"/>
              </a:ext>
            </a:extLst>
          </p:cNvPr>
          <p:cNvSpPr txBox="1"/>
          <p:nvPr/>
        </p:nvSpPr>
        <p:spPr>
          <a:xfrm>
            <a:off x="1238412" y="1765671"/>
            <a:ext cx="1436414" cy="646331"/>
          </a:xfrm>
          <a:prstGeom prst="rect">
            <a:avLst/>
          </a:prstGeom>
          <a:noFill/>
        </p:spPr>
        <p:txBody>
          <a:bodyPr wrap="square" rtlCol="0">
            <a:spAutoFit/>
          </a:bodyPr>
          <a:lstStyle/>
          <a:p>
            <a:pPr algn="ctr"/>
            <a:r>
              <a:rPr lang="en-US" b="1" dirty="0">
                <a:solidFill>
                  <a:schemeClr val="accent4">
                    <a:lumMod val="50000"/>
                  </a:schemeClr>
                </a:solidFill>
              </a:rPr>
              <a:t>Hydrophobic pocket</a:t>
            </a:r>
          </a:p>
        </p:txBody>
      </p:sp>
    </p:spTree>
    <p:extLst>
      <p:ext uri="{BB962C8B-B14F-4D97-AF65-F5344CB8AC3E}">
        <p14:creationId xmlns:p14="http://schemas.microsoft.com/office/powerpoint/2010/main" val="3020081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C33D6-09E5-47F4-A589-E16D2EA872B6}"/>
              </a:ext>
            </a:extLst>
          </p:cNvPr>
          <p:cNvSpPr>
            <a:spLocks noGrp="1"/>
          </p:cNvSpPr>
          <p:nvPr>
            <p:ph type="title"/>
          </p:nvPr>
        </p:nvSpPr>
        <p:spPr/>
        <p:txBody>
          <a:bodyPr/>
          <a:lstStyle/>
          <a:p>
            <a:r>
              <a:rPr lang="en-US" dirty="0">
                <a:latin typeface="Palatino Linotype" panose="02040502050505030304" pitchFamily="18" charset="0"/>
              </a:rPr>
              <a:t>Features of the chymotrypsin catalytic mechanism</a:t>
            </a:r>
          </a:p>
        </p:txBody>
      </p:sp>
      <p:sp>
        <p:nvSpPr>
          <p:cNvPr id="3" name="Content Placeholder 2">
            <a:extLst>
              <a:ext uri="{FF2B5EF4-FFF2-40B4-BE49-F238E27FC236}">
                <a16:creationId xmlns:a16="http://schemas.microsoft.com/office/drawing/2014/main" id="{1EFFCB19-5767-4E8A-A904-C2CB0AD0D1F3}"/>
              </a:ext>
            </a:extLst>
          </p:cNvPr>
          <p:cNvSpPr>
            <a:spLocks noGrp="1"/>
          </p:cNvSpPr>
          <p:nvPr>
            <p:ph idx="1"/>
          </p:nvPr>
        </p:nvSpPr>
        <p:spPr/>
        <p:txBody>
          <a:bodyPr>
            <a:normAutofit lnSpcReduction="10000"/>
          </a:bodyPr>
          <a:lstStyle/>
          <a:p>
            <a:r>
              <a:rPr lang="en-US" dirty="0">
                <a:latin typeface="Palatino Linotype" panose="02040502050505030304" pitchFamily="18" charset="0"/>
              </a:rPr>
              <a:t>Before the break I told you about three ways that enzymes reduce </a:t>
            </a:r>
            <a:r>
              <a:rPr lang="el-GR" dirty="0">
                <a:latin typeface="Palatino Linotype" panose="02040502050505030304" pitchFamily="18" charset="0"/>
              </a:rPr>
              <a:t>Δ</a:t>
            </a:r>
            <a:r>
              <a:rPr lang="en-US" dirty="0" err="1">
                <a:latin typeface="Palatino Linotype" panose="02040502050505030304" pitchFamily="18" charset="0"/>
              </a:rPr>
              <a:t>G</a:t>
            </a:r>
            <a:r>
              <a:rPr lang="en-US" baseline="30000" dirty="0" err="1">
                <a:latin typeface="Calibri" panose="020F0502020204030204" pitchFamily="34" charset="0"/>
                <a:ea typeface="Calibri" panose="020F0502020204030204" pitchFamily="34" charset="0"/>
                <a:cs typeface="Calibri" panose="020F0502020204030204" pitchFamily="34" charset="0"/>
              </a:rPr>
              <a:t>ǂ</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latin typeface="Palatino Linotype" panose="02040502050505030304" pitchFamily="18" charset="0"/>
                <a:ea typeface="Calibri" panose="020F0502020204030204" pitchFamily="34" charset="0"/>
                <a:cs typeface="Calibri" panose="020F0502020204030204" pitchFamily="34" charset="0"/>
              </a:rPr>
              <a:t>Chymotrypsin uses all three of them. </a:t>
            </a:r>
          </a:p>
          <a:p>
            <a:r>
              <a:rPr lang="en-US" dirty="0">
                <a:latin typeface="Palatino Linotype" panose="02040502050505030304" pitchFamily="18" charset="0"/>
                <a:ea typeface="Calibri" panose="020F0502020204030204" pitchFamily="34" charset="0"/>
                <a:cs typeface="Calibri" panose="020F0502020204030204" pitchFamily="34" charset="0"/>
              </a:rPr>
              <a:t>What are the three ways that enzymes reduce </a:t>
            </a:r>
            <a:r>
              <a:rPr lang="el-GR" dirty="0">
                <a:latin typeface="Palatino Linotype" panose="02040502050505030304" pitchFamily="18" charset="0"/>
              </a:rPr>
              <a:t>Δ</a:t>
            </a:r>
            <a:r>
              <a:rPr lang="en-US" dirty="0" err="1">
                <a:latin typeface="Palatino Linotype" panose="02040502050505030304" pitchFamily="18" charset="0"/>
              </a:rPr>
              <a:t>G</a:t>
            </a:r>
            <a:r>
              <a:rPr lang="en-US" baseline="30000" dirty="0" err="1">
                <a:latin typeface="Calibri" panose="020F0502020204030204" pitchFamily="34" charset="0"/>
                <a:ea typeface="Calibri" panose="020F0502020204030204" pitchFamily="34" charset="0"/>
                <a:cs typeface="Calibri" panose="020F0502020204030204" pitchFamily="34" charset="0"/>
              </a:rPr>
              <a:t>ǂ</a:t>
            </a:r>
            <a:r>
              <a:rPr lang="en-US" baseline="30000" dirty="0">
                <a:latin typeface="Calibri" panose="020F0502020204030204" pitchFamily="34" charset="0"/>
                <a:ea typeface="Calibri" panose="020F0502020204030204" pitchFamily="34" charset="0"/>
                <a:cs typeface="Calibri" panose="020F0502020204030204" pitchFamily="34" charset="0"/>
              </a:rPr>
              <a:t> </a:t>
            </a:r>
            <a:r>
              <a:rPr lang="en-US" dirty="0">
                <a:latin typeface="Palatino Linotype" panose="02040502050505030304" pitchFamily="18" charset="0"/>
                <a:ea typeface="Calibri" panose="020F0502020204030204" pitchFamily="34" charset="0"/>
                <a:cs typeface="Calibri" panose="020F0502020204030204" pitchFamily="34" charset="0"/>
              </a:rPr>
              <a:t>in general?</a:t>
            </a:r>
          </a:p>
          <a:p>
            <a:r>
              <a:rPr lang="en-US" dirty="0">
                <a:latin typeface="Palatino Linotype" panose="02040502050505030304" pitchFamily="18" charset="0"/>
                <a:ea typeface="Calibri" panose="020F0502020204030204" pitchFamily="34" charset="0"/>
                <a:cs typeface="Calibri" panose="020F0502020204030204" pitchFamily="34" charset="0"/>
              </a:rPr>
              <a:t>Describe how chymotrypsin uses each one, including specific residues of chymotrypsin in your answer.</a:t>
            </a:r>
          </a:p>
          <a:p>
            <a:r>
              <a:rPr lang="en-US" dirty="0">
                <a:latin typeface="Palatino Linotype" panose="02040502050505030304" pitchFamily="18" charset="0"/>
                <a:ea typeface="Calibri" panose="020F0502020204030204" pitchFamily="34" charset="0"/>
                <a:cs typeface="Calibri" panose="020F0502020204030204" pitchFamily="34" charset="0"/>
              </a:rPr>
              <a:t>Draw a reaction energy diagram of 1) an amide hydrolysis without catalysis and 2) an amide hydrolysis catalyzed by chymotrypsin. Your answer should include the energy and structure of 1) the reactant 2) the tetrahedral intermediate(s), and whatever components of the enzyme are interacting with them, and 3) the products</a:t>
            </a:r>
            <a:endParaRPr lang="en-US" dirty="0">
              <a:latin typeface="Palatino Linotype" panose="02040502050505030304" pitchFamily="18" charset="0"/>
            </a:endParaRPr>
          </a:p>
        </p:txBody>
      </p:sp>
      <p:sp>
        <p:nvSpPr>
          <p:cNvPr id="4" name="TextBox 3">
            <a:extLst>
              <a:ext uri="{FF2B5EF4-FFF2-40B4-BE49-F238E27FC236}">
                <a16:creationId xmlns:a16="http://schemas.microsoft.com/office/drawing/2014/main" id="{D61E23B2-54CE-4D7B-BC0F-105712E971B9}"/>
              </a:ext>
            </a:extLst>
          </p:cNvPr>
          <p:cNvSpPr txBox="1"/>
          <p:nvPr/>
        </p:nvSpPr>
        <p:spPr>
          <a:xfrm>
            <a:off x="9942786" y="112991"/>
            <a:ext cx="2021131" cy="369332"/>
          </a:xfrm>
          <a:prstGeom prst="rect">
            <a:avLst/>
          </a:prstGeom>
          <a:noFill/>
        </p:spPr>
        <p:txBody>
          <a:bodyPr wrap="none" rtlCol="0">
            <a:spAutoFit/>
          </a:bodyPr>
          <a:lstStyle/>
          <a:p>
            <a:r>
              <a:rPr lang="en-US" b="1" dirty="0">
                <a:solidFill>
                  <a:srgbClr val="7030A0"/>
                </a:solidFill>
              </a:rPr>
              <a:t>Notebook question</a:t>
            </a:r>
          </a:p>
        </p:txBody>
      </p:sp>
      <p:sp>
        <p:nvSpPr>
          <p:cNvPr id="5" name="Rectangle 4">
            <a:extLst>
              <a:ext uri="{FF2B5EF4-FFF2-40B4-BE49-F238E27FC236}">
                <a16:creationId xmlns:a16="http://schemas.microsoft.com/office/drawing/2014/main" id="{DBAAA3FB-82B4-40DA-83D0-8E6B30D0B0F4}"/>
              </a:ext>
            </a:extLst>
          </p:cNvPr>
          <p:cNvSpPr/>
          <p:nvPr/>
        </p:nvSpPr>
        <p:spPr>
          <a:xfrm>
            <a:off x="9942786" y="112991"/>
            <a:ext cx="2021131" cy="369332"/>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7785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423</Words>
  <Application>Microsoft Office PowerPoint</Application>
  <PresentationFormat>Widescreen</PresentationFormat>
  <Paragraphs>71</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Palatino Linotype</vt:lpstr>
      <vt:lpstr>Office Theme</vt:lpstr>
      <vt:lpstr>Chem 321 – Lecture 24</vt:lpstr>
      <vt:lpstr>Proteases: hydrolysis of peptide bond</vt:lpstr>
      <vt:lpstr>Proteases: hydrolysis of peptide bond</vt:lpstr>
      <vt:lpstr>Proteases: hydrolysis of peptide bond</vt:lpstr>
      <vt:lpstr>Chymotrypsin – active site</vt:lpstr>
      <vt:lpstr>Chymotrypsin – active site</vt:lpstr>
      <vt:lpstr>Chymotrypsin – active site</vt:lpstr>
      <vt:lpstr>Chymotrypsin – active site</vt:lpstr>
      <vt:lpstr>Chymotrypsin: reaction mechanism</vt:lpstr>
      <vt:lpstr>PowerPoint Presentation</vt:lpstr>
      <vt:lpstr>Features of the chymotrypsin catalytic mechanism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 321 – Lecture 24</dc:title>
  <dc:creator>Scotty Farley</dc:creator>
  <cp:lastModifiedBy>Scotty Farley</cp:lastModifiedBy>
  <cp:revision>18</cp:revision>
  <dcterms:created xsi:type="dcterms:W3CDTF">2024-10-22T15:01:32Z</dcterms:created>
  <dcterms:modified xsi:type="dcterms:W3CDTF">2025-10-23T18:14:40Z</dcterms:modified>
</cp:coreProperties>
</file>